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s3"/>
          <p:cNvSpPr/>
          <p:nvPr/>
        </p:nvSpPr>
        <p:spPr>
          <a:xfrm>
            <a:off x="5196000" y="1780000"/>
            <a:ext cx="1800000" cy="470000"/>
          </a:xfrm>
          <a:prstGeom prst="roundRect">
            <a:avLst/>
          </a:prstGeom>
          <a:noFill/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200" dirty="0">
                <a:solidFill>
                  <a:srgbClr val="D9E2F3"/>
                </a:solidFill>
                <a:latin typeface="Malgun Gothic"/>
                <a:ea typeface="Malgun Gothic"/>
              </a:rPr>
              <a:t>변리사 상담용 자료</a:t>
            </a:r>
          </a:p>
        </p:txBody>
      </p:sp>
      <p:sp>
        <p:nvSpPr>
          <p:cNvPr id="4" name="s4"/>
          <p:cNvSpPr/>
          <p:nvPr/>
        </p:nvSpPr>
        <p:spPr>
          <a:xfrm>
            <a:off x="1000000" y="2420000"/>
            <a:ext cx="10192000" cy="95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4000" b="1" dirty="0">
                <a:solidFill>
                  <a:srgbClr val="FFFFFF"/>
                </a:solidFill>
                <a:latin typeface="Malgun Gothic"/>
                <a:ea typeface="Malgun Gothic"/>
              </a:rPr>
              <a:t>Axiom AI 특허출원 상담 자료</a:t>
            </a:r>
          </a:p>
        </p:txBody>
      </p:sp>
      <p:sp>
        <p:nvSpPr>
          <p:cNvPr id="5" name="s5"/>
          <p:cNvSpPr/>
          <p:nvPr/>
        </p:nvSpPr>
        <p:spPr>
          <a:xfrm>
            <a:off x="5496000" y="3560000"/>
            <a:ext cx="1200000" cy="50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1000000" y="3760000"/>
            <a:ext cx="10192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700" dirty="0">
                <a:solidFill>
                  <a:srgbClr val="D9E2F3"/>
                </a:solidFill>
                <a:latin typeface="Malgun Gothic"/>
                <a:ea typeface="Malgun Gothic"/>
              </a:rPr>
              <a:t>폐쇄망 · 소형 LLM 환경을 위한 AI 코드 어시스턴트 — 발명 설명 및 청구항 후보</a:t>
            </a:r>
          </a:p>
        </p:txBody>
      </p:sp>
      <p:sp>
        <p:nvSpPr>
          <p:cNvPr id="7" name="s7"/>
          <p:cNvSpPr/>
          <p:nvPr/>
        </p:nvSpPr>
        <p:spPr>
          <a:xfrm>
            <a:off x="1000000" y="5700000"/>
            <a:ext cx="10192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dirty="0">
                <a:solidFill>
                  <a:srgbClr val="8FAADC"/>
                </a:solidFill>
                <a:latin typeface="Malgun Gothic"/>
                <a:ea typeface="Malgun Gothic"/>
              </a:rPr>
              <a:t>2026. 07   |   VSCode 확장 axiom-ai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오늘 설명드릴 내용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발명의 배경부터 출원 전략까지, 네 단계로 말씀드리겠습니다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5296000" cy="20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800" b="1" dirty="0">
                <a:solidFill>
                  <a:srgbClr val="C55A11"/>
                </a:solidFill>
                <a:latin typeface="Malgun Gothic"/>
                <a:ea typeface="Malgun Gothic"/>
              </a:rPr>
              <a:t>01  </a:t>
            </a:r>
            <a:r>
              <a:rPr 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발명의 배경과 과제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어떤 제품이고, 왜 기존 방식으로는 안 되는가</a:t>
            </a:r>
          </a:p>
        </p:txBody>
      </p:sp>
      <p:sp>
        <p:nvSpPr>
          <p:cNvPr id="7" name="s7"/>
          <p:cNvSpPr/>
          <p:nvPr/>
        </p:nvSpPr>
        <p:spPr>
          <a:xfrm>
            <a:off x="6196000" y="1650000"/>
            <a:ext cx="5296000" cy="20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800" b="1" dirty="0">
                <a:solidFill>
                  <a:srgbClr val="C55A11"/>
                </a:solidFill>
                <a:latin typeface="Malgun Gothic"/>
                <a:ea typeface="Malgun Gothic"/>
              </a:rPr>
              <a:t>02  </a:t>
            </a:r>
            <a:r>
              <a:rPr 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핵심 발명 사상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무엇이 새로운가 — 한 문장으로 요약되는 아키텍처 원리</a:t>
            </a:r>
          </a:p>
        </p:txBody>
      </p:sp>
      <p:sp>
        <p:nvSpPr>
          <p:cNvPr id="8" name="s8"/>
          <p:cNvSpPr/>
          <p:nvPr/>
        </p:nvSpPr>
        <p:spPr>
          <a:xfrm>
            <a:off x="700000" y="3900000"/>
            <a:ext cx="5296000" cy="20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800" b="1" dirty="0">
                <a:solidFill>
                  <a:srgbClr val="C55A11"/>
                </a:solidFill>
                <a:latin typeface="Malgun Gothic"/>
                <a:ea typeface="Malgun Gothic"/>
              </a:rPr>
              <a:t>03  </a:t>
            </a:r>
            <a:r>
              <a:rPr 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청구항 후보 5종 (A~E)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실제 구현된 구체적 기술 메커니즘</a:t>
            </a:r>
          </a:p>
        </p:txBody>
      </p:sp>
      <p:sp>
        <p:nvSpPr>
          <p:cNvPr id="9" name="s9"/>
          <p:cNvSpPr/>
          <p:nvPr/>
        </p:nvSpPr>
        <p:spPr>
          <a:xfrm>
            <a:off x="6196000" y="3900000"/>
            <a:ext cx="5296000" cy="20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800" b="1" dirty="0">
                <a:solidFill>
                  <a:srgbClr val="C55A11"/>
                </a:solidFill>
                <a:latin typeface="Malgun Gothic"/>
                <a:ea typeface="Malgun Gothic"/>
              </a:rPr>
              <a:t>04  </a:t>
            </a:r>
            <a:r>
              <a:rPr 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출원 전략 · 확인 요청 사항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주/종속 청구항 구조 제안과 변리사님께 여쭤볼 것</a:t>
            </a:r>
          </a:p>
        </p:txBody>
      </p:sp>
      <p:sp>
        <p:nvSpPr>
          <p:cNvPr id="10" name="s10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발명 기본 정보 (Fact Sheet)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상담에 필요한 기초 사실관계 — ✔ 확정 / ⚠ 미팅에서 함께 확인 필요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500000"/>
            <a:ext cx="10792000" cy="8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7" name="s7"/>
          <p:cNvSpPr/>
          <p:nvPr/>
        </p:nvSpPr>
        <p:spPr>
          <a:xfrm>
            <a:off x="850000" y="1500000"/>
            <a:ext cx="24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발명의 명칭(가칭)</a:t>
            </a:r>
          </a:p>
        </p:txBody>
      </p:sp>
      <p:sp>
        <p:nvSpPr>
          <p:cNvPr id="8" name="s8"/>
          <p:cNvSpPr/>
          <p:nvPr/>
        </p:nvSpPr>
        <p:spPr>
          <a:xfrm>
            <a:off x="3350000" y="1500000"/>
            <a:ext cx="79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300" b="1" dirty="0">
                <a:solidFill>
                  <a:srgbClr val="2E7D32"/>
                </a:solidFill>
                <a:latin typeface="Malgun Gothic"/>
                <a:ea typeface="Malgun Gothic"/>
              </a:rPr>
              <a:t>✔  </a:t>
            </a: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결정론적 구조 분해와 계약 주입을 이용한 로컬 소형 LLM 기반 코드 편집 방법 및 시스템</a:t>
            </a:r>
          </a:p>
        </p:txBody>
      </p:sp>
      <p:sp>
        <p:nvSpPr>
          <p:cNvPr id="9" name="s9"/>
          <p:cNvSpPr/>
          <p:nvPr/>
        </p:nvSpPr>
        <p:spPr>
          <a:xfrm>
            <a:off x="700000" y="2400000"/>
            <a:ext cx="10792000" cy="8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0" name="s10"/>
          <p:cNvSpPr/>
          <p:nvPr/>
        </p:nvSpPr>
        <p:spPr>
          <a:xfrm>
            <a:off x="850000" y="2400000"/>
            <a:ext cx="24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발명자 / 출원인</a:t>
            </a:r>
          </a:p>
        </p:txBody>
      </p:sp>
      <p:sp>
        <p:nvSpPr>
          <p:cNvPr id="11" name="s11"/>
          <p:cNvSpPr/>
          <p:nvPr/>
        </p:nvSpPr>
        <p:spPr>
          <a:xfrm>
            <a:off x="3350000" y="2400000"/>
            <a:ext cx="79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⚠  </a:t>
            </a: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개발자 1인 — 직무발명 해당 여부·승계 규정 확인 필요 (개인/법인 출원 방향 상담)</a:t>
            </a:r>
          </a:p>
        </p:txBody>
      </p:sp>
      <p:sp>
        <p:nvSpPr>
          <p:cNvPr id="12" name="s12"/>
          <p:cNvSpPr/>
          <p:nvPr/>
        </p:nvSpPr>
        <p:spPr>
          <a:xfrm>
            <a:off x="700000" y="3300000"/>
            <a:ext cx="10792000" cy="8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3" name="s13"/>
          <p:cNvSpPr/>
          <p:nvPr/>
        </p:nvSpPr>
        <p:spPr>
          <a:xfrm>
            <a:off x="850000" y="3300000"/>
            <a:ext cx="24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실시 상태</a:t>
            </a:r>
          </a:p>
        </p:txBody>
      </p:sp>
      <p:sp>
        <p:nvSpPr>
          <p:cNvPr id="14" name="s14"/>
          <p:cNvSpPr/>
          <p:nvPr/>
        </p:nvSpPr>
        <p:spPr>
          <a:xfrm>
            <a:off x="3350000" y="3300000"/>
            <a:ext cx="79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300" b="1" dirty="0">
                <a:solidFill>
                  <a:srgbClr val="2E7D32"/>
                </a:solidFill>
                <a:latin typeface="Malgun Gothic"/>
                <a:ea typeface="Malgun Gothic"/>
              </a:rPr>
              <a:t>✔  </a:t>
            </a: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구현 완료 — 실제 동작하는 VSCode 확장, 자동 테스트 220+건, 실모델(사내 sLLM) 검증 이력 보유</a:t>
            </a:r>
          </a:p>
        </p:txBody>
      </p:sp>
      <p:sp>
        <p:nvSpPr>
          <p:cNvPr id="15" name="s15"/>
          <p:cNvSpPr/>
          <p:nvPr/>
        </p:nvSpPr>
        <p:spPr>
          <a:xfrm>
            <a:off x="700000" y="4200000"/>
            <a:ext cx="10792000" cy="8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6" name="s16"/>
          <p:cNvSpPr/>
          <p:nvPr/>
        </p:nvSpPr>
        <p:spPr>
          <a:xfrm>
            <a:off x="850000" y="4200000"/>
            <a:ext cx="24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공개 이력</a:t>
            </a:r>
          </a:p>
        </p:txBody>
      </p:sp>
      <p:sp>
        <p:nvSpPr>
          <p:cNvPr id="17" name="s17"/>
          <p:cNvSpPr/>
          <p:nvPr/>
        </p:nvSpPr>
        <p:spPr>
          <a:xfrm>
            <a:off x="3350000" y="4200000"/>
            <a:ext cx="79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⚠  </a:t>
            </a: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출원 전 전수 점검 필요 — 코드 저장소 공개 여부·사내외 발표·배포 이력 (신규성에 직결)</a:t>
            </a:r>
          </a:p>
        </p:txBody>
      </p:sp>
      <p:sp>
        <p:nvSpPr>
          <p:cNvPr id="18" name="s18"/>
          <p:cNvSpPr/>
          <p:nvPr/>
        </p:nvSpPr>
        <p:spPr>
          <a:xfrm>
            <a:off x="700000" y="5100000"/>
            <a:ext cx="10792000" cy="8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9" name="s19"/>
          <p:cNvSpPr/>
          <p:nvPr/>
        </p:nvSpPr>
        <p:spPr>
          <a:xfrm>
            <a:off x="850000" y="5100000"/>
            <a:ext cx="24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희망 범위·일정</a:t>
            </a:r>
          </a:p>
        </p:txBody>
      </p:sp>
      <p:sp>
        <p:nvSpPr>
          <p:cNvPr id="20" name="s20"/>
          <p:cNvSpPr/>
          <p:nvPr/>
        </p:nvSpPr>
        <p:spPr>
          <a:xfrm>
            <a:off x="3350000" y="5100000"/>
            <a:ext cx="79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300" b="1" dirty="0">
                <a:solidFill>
                  <a:srgbClr val="2E7D32"/>
                </a:solidFill>
                <a:latin typeface="Malgun Gothic"/>
                <a:ea typeface="Malgun Gothic"/>
              </a:rPr>
              <a:t>✔  </a:t>
            </a: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국내 출원 우선, 해외(PCT)는 상담 결과로 결정 — 일정 제약 없음</a:t>
            </a:r>
          </a:p>
        </p:txBody>
      </p:sp>
      <p:sp>
        <p:nvSpPr>
          <p:cNvPr id="21" name="s21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발명의 배경 — Axiom AI란?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특허 대상 제품이 무엇인지 먼저 소개드립니다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00000"/>
            <a:ext cx="5500000" cy="4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 marL="228600" indent="-228600">
              <a:buClr>
                <a:srgbClr val="2E5395"/>
              </a:buClr>
              <a:buFont typeface="Arial"/>
              <a:buChar char="•"/>
            </a:pP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Axiom AI</a:t>
            </a:r>
            <a:r>
              <a:rPr lang="ko-KR" sz="1500" dirty="0">
                <a:solidFill>
                  <a:srgbClr val="595959"/>
                </a:solidFill>
                <a:latin typeface="Malgun Gothic"/>
                <a:ea typeface="Malgun Gothic"/>
              </a:rPr>
              <a:t> = 사내 React 표준 프로젝트 전용 </a:t>
            </a: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VSCode 확장 AI 어시스턴트</a:t>
            </a:r>
          </a:p>
          <a:p>
            <a:pPr algn="l" marL="228600" indent="-228600">
              <a:spcBef>
                <a:spcPts val="900"/>
              </a:spcBef>
              <a:buClr>
                <a:srgbClr val="2E5395"/>
              </a:buClr>
              <a:buFont typeface="Arial"/>
              <a:buChar char="•"/>
            </a:pPr>
            <a:r>
              <a:rPr lang="ko-KR" sz="1500" dirty="0">
                <a:solidFill>
                  <a:srgbClr val="595959"/>
                </a:solidFill>
                <a:latin typeface="Malgun Gothic"/>
                <a:ea typeface="Malgun Gothic"/>
              </a:rPr>
              <a:t>채팅으로 지시하면 코드 생성 · 수정 · 질의응답을 수행</a:t>
            </a:r>
          </a:p>
          <a:p>
            <a:pPr algn="l" marL="228600" indent="-228600">
              <a:spcBef>
                <a:spcPts val="900"/>
              </a:spcBef>
              <a:buClr>
                <a:srgbClr val="2E5395"/>
              </a:buClr>
              <a:buFont typeface="Arial"/>
              <a:buChar char="•"/>
            </a:pPr>
            <a:r>
              <a:rPr lang="ko-KR" sz="1500" dirty="0">
                <a:solidFill>
                  <a:srgbClr val="595959"/>
                </a:solidFill>
                <a:latin typeface="Malgun Gothic"/>
                <a:ea typeface="Malgun Gothic"/>
              </a:rPr>
              <a:t>대상 환경: </a:t>
            </a: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인터넷이 차단된 보안 폐쇄망</a:t>
            </a:r>
            <a:r>
              <a:rPr lang="ko-KR" sz="1500" dirty="0">
                <a:solidFill>
                  <a:srgbClr val="595959"/>
                </a:solidFill>
                <a:latin typeface="Malgun Gothic"/>
                <a:ea typeface="Malgun Gothic"/>
              </a:rPr>
              <a:t> (금융 · 공공)</a:t>
            </a:r>
          </a:p>
          <a:p>
            <a:pPr algn="l" marL="228600" indent="-228600">
              <a:spcBef>
                <a:spcPts val="900"/>
              </a:spcBef>
              <a:buClr>
                <a:srgbClr val="2E5395"/>
              </a:buClr>
              <a:buFont typeface="Arial"/>
              <a:buChar char="•"/>
            </a:pPr>
            <a:r>
              <a:rPr lang="ko-KR" sz="1500" dirty="0">
                <a:solidFill>
                  <a:srgbClr val="595959"/>
                </a:solidFill>
                <a:latin typeface="Malgun Gothic"/>
                <a:ea typeface="Malgun Gothic"/>
              </a:rPr>
              <a:t>사용 모델: 사내 서버의 </a:t>
            </a: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소형 LLM(sLLM)</a:t>
            </a:r>
            <a:r>
              <a:rPr lang="ko-KR" sz="1500" dirty="0">
                <a:solidFill>
                  <a:srgbClr val="595959"/>
                </a:solidFill>
                <a:latin typeface="Malgun Gothic"/>
                <a:ea typeface="Malgun Gothic"/>
              </a:rPr>
              <a:t> — GPT급 대형 모델이 아님</a:t>
            </a:r>
          </a:p>
          <a:p>
            <a:pPr algn="l" marL="228600" indent="-228600">
              <a:spcBef>
                <a:spcPts val="900"/>
              </a:spcBef>
              <a:buClr>
                <a:srgbClr val="2E5395"/>
              </a:buClr>
              <a:buFont typeface="Arial"/>
              <a:buChar char="•"/>
            </a:pPr>
            <a:r>
              <a:rPr lang="ko-KR" sz="1500" dirty="0">
                <a:solidFill>
                  <a:srgbClr val="595959"/>
                </a:solidFill>
                <a:latin typeface="Malgun Gothic"/>
                <a:ea typeface="Malgun Gothic"/>
              </a:rPr>
              <a:t>전 기능이 실제 구현 완료, 자동 테스트와 실모델 검증 이력 보유</a:t>
            </a:r>
          </a:p>
        </p:txBody>
      </p:sp>
      <p:sp>
        <p:nvSpPr>
          <p:cNvPr id="7" name="s7"/>
          <p:cNvSpPr/>
          <p:nvPr/>
        </p:nvSpPr>
        <p:spPr>
          <a:xfrm>
            <a:off x="6600000" y="1700000"/>
            <a:ext cx="4892000" cy="85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개발자</a:t>
            </a:r>
          </a:p>
          <a:p>
            <a:pPr algn="ctr"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VSCode 채팅으로 지시</a:t>
            </a:r>
          </a:p>
        </p:txBody>
      </p:sp>
      <p:sp>
        <p:nvSpPr>
          <p:cNvPr id="8" name="s8"/>
          <p:cNvSpPr/>
          <p:nvPr/>
        </p:nvSpPr>
        <p:spPr>
          <a:xfrm>
            <a:off x="8916000" y="2620000"/>
            <a:ext cx="260000" cy="300000"/>
          </a:xfrm>
          <a:prstGeom prst="downArrow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" name="s9"/>
          <p:cNvSpPr/>
          <p:nvPr/>
        </p:nvSpPr>
        <p:spPr>
          <a:xfrm>
            <a:off x="6600000" y="2990000"/>
            <a:ext cx="4892000" cy="10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Axiom AI 확장 (본 발명)</a:t>
            </a:r>
          </a:p>
          <a:p>
            <a:pPr algn="ctr">
              <a:buNone/>
            </a:pPr>
            <a:r>
              <a:rPr lang="ko-KR" sz="1050" dirty="0">
                <a:solidFill>
                  <a:srgbClr val="D9E2F3"/>
                </a:solidFill>
                <a:latin typeface="Malgun Gothic"/>
                <a:ea typeface="Malgun Gothic"/>
              </a:rPr>
              <a:t>결정론 처리 엔진 — 분해 · 위치결정 · 계약주입 · 검증</a:t>
            </a:r>
          </a:p>
        </p:txBody>
      </p:sp>
      <p:sp>
        <p:nvSpPr>
          <p:cNvPr id="10" name="s10"/>
          <p:cNvSpPr/>
          <p:nvPr/>
        </p:nvSpPr>
        <p:spPr>
          <a:xfrm>
            <a:off x="8916000" y="4060000"/>
            <a:ext cx="260000" cy="300000"/>
          </a:xfrm>
          <a:prstGeom prst="downArrow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" name="s11"/>
          <p:cNvSpPr/>
          <p:nvPr/>
        </p:nvSpPr>
        <p:spPr>
          <a:xfrm>
            <a:off x="6600000" y="4430000"/>
            <a:ext cx="4892000" cy="850000"/>
          </a:xfrm>
          <a:prstGeom prst="roundRect">
            <a:avLst/>
          </a:prstGeom>
          <a:solidFill>
            <a:srgbClr val="FDF0E7"/>
          </a:solidFill>
          <a:ln w="9525">
            <a:solidFill>
              <a:srgbClr val="C55A11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사내 소형 LLM (sLLM)</a:t>
            </a:r>
          </a:p>
          <a:p>
            <a:pPr algn="ctr"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폐쇄망 내부 서버 — 코드 조각만 생성</a:t>
            </a:r>
          </a:p>
        </p:txBody>
      </p:sp>
      <p:sp>
        <p:nvSpPr>
          <p:cNvPr id="12" name="s12"/>
          <p:cNvSpPr/>
          <p:nvPr/>
        </p:nvSpPr>
        <p:spPr>
          <a:xfrm>
            <a:off x="6600000" y="5400000"/>
            <a:ext cx="4892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+ 로컬 지식문서(사용 가이드) — 모델이 없어도 응답에 활용</a:t>
            </a:r>
          </a:p>
        </p:txBody>
      </p:sp>
      <p:sp>
        <p:nvSpPr>
          <p:cNvPr id="13" name="s13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해결하고자 하는 과제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왜 기존 방식(클라우드 AI · 파일 전체 재작성)이 통하지 않는가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3464000" cy="2350000"/>
          </a:xfrm>
          <a:prstGeom prst="roundRect">
            <a:avLst/>
          </a:prstGeom>
          <a:solidFill>
            <a:srgbClr val="FBEDEC"/>
          </a:solidFill>
          <a:ln w="9525">
            <a:solidFill>
              <a:srgbClr val="E5B9B7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450" b="1" dirty="0">
                <a:solidFill>
                  <a:srgbClr val="B02B2B"/>
                </a:solidFill>
                <a:latin typeface="Malgun Gothic"/>
                <a:ea typeface="Malgun Gothic"/>
              </a:rPr>
              <a:t>① 클라우드 LLM 사용 불가</a:t>
            </a:r>
          </a:p>
          <a:p>
            <a:pPr algn="ctr">
              <a:spcBef>
                <a:spcPts val="5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금융 · 공공 폐쇄망에서는 GPT, Claude 등 외부 AI 접근이 차단된다.</a:t>
            </a:r>
          </a:p>
        </p:txBody>
      </p:sp>
      <p:sp>
        <p:nvSpPr>
          <p:cNvPr id="7" name="s7"/>
          <p:cNvSpPr/>
          <p:nvPr/>
        </p:nvSpPr>
        <p:spPr>
          <a:xfrm>
            <a:off x="4364000" y="1650000"/>
            <a:ext cx="3464000" cy="2350000"/>
          </a:xfrm>
          <a:prstGeom prst="roundRect">
            <a:avLst/>
          </a:prstGeom>
          <a:solidFill>
            <a:srgbClr val="FBEDEC"/>
          </a:solidFill>
          <a:ln w="9525">
            <a:solidFill>
              <a:srgbClr val="E5B9B7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450" b="1" dirty="0">
                <a:solidFill>
                  <a:srgbClr val="B02B2B"/>
                </a:solidFill>
                <a:latin typeface="Malgun Gothic"/>
                <a:ea typeface="Malgun Gothic"/>
              </a:rPr>
              <a:t>② 소형 모델은 신뢰 불가</a:t>
            </a:r>
          </a:p>
          <a:p>
            <a:pPr algn="ctr">
              <a:spcBef>
                <a:spcPts val="5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파일 전체 재작성을 맡기면 코드 파손 · 환각(hallucination) · 기존 코드 누락이 빈발한다.</a:t>
            </a:r>
          </a:p>
        </p:txBody>
      </p:sp>
      <p:sp>
        <p:nvSpPr>
          <p:cNvPr id="8" name="s8"/>
          <p:cNvSpPr/>
          <p:nvPr/>
        </p:nvSpPr>
        <p:spPr>
          <a:xfrm>
            <a:off x="8028000" y="1650000"/>
            <a:ext cx="3464000" cy="2350000"/>
          </a:xfrm>
          <a:prstGeom prst="roundRect">
            <a:avLst/>
          </a:prstGeom>
          <a:solidFill>
            <a:srgbClr val="FBEDEC"/>
          </a:solidFill>
          <a:ln w="9525">
            <a:solidFill>
              <a:srgbClr val="E5B9B7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450" b="1" dirty="0">
                <a:solidFill>
                  <a:srgbClr val="B02B2B"/>
                </a:solidFill>
                <a:latin typeface="Malgun Gothic"/>
                <a:ea typeface="Malgun Gothic"/>
              </a:rPr>
              <a:t>③ 기존 도구 부적합</a:t>
            </a:r>
          </a:p>
          <a:p>
            <a:pPr algn="ctr">
              <a:spcBef>
                <a:spcPts val="5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Copilot, Cursor는 클라우드 대형 모델을 전제로 설계되어 대안이 되지 못한다.</a:t>
            </a:r>
          </a:p>
        </p:txBody>
      </p:sp>
      <p:sp>
        <p:nvSpPr>
          <p:cNvPr id="9" name="s9"/>
          <p:cNvSpPr/>
          <p:nvPr/>
        </p:nvSpPr>
        <p:spPr>
          <a:xfrm>
            <a:off x="700000" y="4500000"/>
            <a:ext cx="10792000" cy="10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과제:  </a:t>
            </a:r>
            <a:r>
              <a:rPr lang="ko-KR" sz="1600" b="1" dirty="0">
                <a:solidFill>
                  <a:srgbClr val="FFFFFF"/>
                </a:solidFill>
                <a:latin typeface="Malgun Gothic"/>
                <a:ea typeface="Malgun Gothic"/>
              </a:rPr>
              <a:t>신뢰할 수 없는 약한 모델로, 어떻게 엔터프라이즈 코드를 안전하게 편집할 것인가?</a:t>
            </a:r>
          </a:p>
        </p:txBody>
      </p:sp>
      <p:sp>
        <p:nvSpPr>
          <p:cNvPr id="10" name="s10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핵심 발명 사상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본 발명 전체를 관통하는 하나의 아키텍처 원리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1200000" y="1500000"/>
            <a:ext cx="9792000" cy="8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1F3864"/>
                </a:solidFill>
                <a:latin typeface="Malgun Gothic"/>
                <a:ea typeface="Malgun Gothic"/>
              </a:rPr>
              <a:t>"분해 · 위치결정 · 계약주입 · 검증은 프로그램이,  모델은 의미 조각 하나만"</a:t>
            </a:r>
          </a:p>
        </p:txBody>
      </p:sp>
      <p:sp>
        <p:nvSpPr>
          <p:cNvPr id="7" name="s7"/>
          <p:cNvSpPr/>
          <p:nvPr/>
        </p:nvSpPr>
        <p:spPr>
          <a:xfrm>
            <a:off x="700000" y="2550000"/>
            <a:ext cx="5000000" cy="5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50" b="1" dirty="0">
                <a:solidFill>
                  <a:srgbClr val="FFFFFF"/>
                </a:solidFill>
                <a:latin typeface="Malgun Gothic"/>
                <a:ea typeface="Malgun Gothic"/>
              </a:rPr>
              <a:t>프로그램(확장)의 책임 — 결정론적 보장</a:t>
            </a:r>
          </a:p>
        </p:txBody>
      </p:sp>
      <p:sp>
        <p:nvSpPr>
          <p:cNvPr id="8" name="s8"/>
          <p:cNvSpPr/>
          <p:nvPr/>
        </p:nvSpPr>
        <p:spPr>
          <a:xfrm>
            <a:off x="700000" y="3070000"/>
            <a:ext cx="5000000" cy="19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 marL="228600" indent="-228600">
              <a:buClr>
                <a:srgbClr val="2E5395"/>
              </a:buClr>
              <a:buFont typeface="Arial"/>
              <a:buChar char="•"/>
            </a:pP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코드 구조를 결정론적으로 분해</a:t>
            </a:r>
          </a:p>
          <a:p>
            <a:pPr algn="l" marL="228600" indent="-228600">
              <a:spcBef>
                <a:spcPts val="500"/>
              </a:spcBef>
              <a:buClr>
                <a:srgbClr val="2E5395"/>
              </a:buClr>
              <a:buFont typeface="Arial"/>
              <a:buChar char="•"/>
            </a:pP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편집 위치를 프로그램이 결정</a:t>
            </a:r>
          </a:p>
          <a:p>
            <a:pPr algn="l" marL="228600" indent="-228600">
              <a:spcBef>
                <a:spcPts val="500"/>
              </a:spcBef>
              <a:buClr>
                <a:srgbClr val="2E5395"/>
              </a:buClr>
              <a:buFont typeface="Arial"/>
              <a:buChar char="•"/>
            </a:pP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프레임워크 사용 규약(계약)을 자동 주입</a:t>
            </a:r>
          </a:p>
          <a:p>
            <a:pPr algn="l" marL="228600" indent="-228600">
              <a:spcBef>
                <a:spcPts val="500"/>
              </a:spcBef>
              <a:buClr>
                <a:srgbClr val="2E5395"/>
              </a:buClr>
              <a:buFont typeface="Arial"/>
              <a:buChar char="•"/>
            </a:pP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결과를 게이트 · 컴파일러로 검증</a:t>
            </a:r>
          </a:p>
        </p:txBody>
      </p:sp>
      <p:sp>
        <p:nvSpPr>
          <p:cNvPr id="9" name="s9"/>
          <p:cNvSpPr/>
          <p:nvPr/>
        </p:nvSpPr>
        <p:spPr>
          <a:xfrm>
            <a:off x="6492000" y="2550000"/>
            <a:ext cx="5000000" cy="520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50" b="1" dirty="0">
                <a:solidFill>
                  <a:srgbClr val="FFFFFF"/>
                </a:solidFill>
                <a:latin typeface="Malgun Gothic"/>
                <a:ea typeface="Malgun Gothic"/>
              </a:rPr>
              <a:t>모델(sLLM)의 책임 — 최소화</a:t>
            </a:r>
          </a:p>
        </p:txBody>
      </p:sp>
      <p:sp>
        <p:nvSpPr>
          <p:cNvPr id="10" name="s10"/>
          <p:cNvSpPr/>
          <p:nvPr/>
        </p:nvSpPr>
        <p:spPr>
          <a:xfrm>
            <a:off x="6492000" y="3070000"/>
            <a:ext cx="5000000" cy="19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 marL="228600" indent="-228600">
              <a:buClr>
                <a:srgbClr val="2E5395"/>
              </a:buClr>
              <a:buFont typeface="Arial"/>
              <a:buChar char="•"/>
            </a:pP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의미 이해가 필요한 </a:t>
            </a: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코드 조각 하나만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 생성</a:t>
            </a:r>
          </a:p>
          <a:p>
            <a:pPr algn="l" marL="228600" indent="-228600">
              <a:spcBef>
                <a:spcPts val="500"/>
              </a:spcBef>
              <a:buClr>
                <a:srgbClr val="2E5395"/>
              </a:buClr>
              <a:buFont typeface="Arial"/>
              <a:buChar char="•"/>
            </a:pP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또는 제시된 후보 중 번호 선택만 수행</a:t>
            </a:r>
          </a:p>
          <a:p>
            <a:pPr algn="l" marL="228600" indent="-228600">
              <a:spcBef>
                <a:spcPts val="500"/>
              </a:spcBef>
              <a:buClr>
                <a:srgbClr val="2E5395"/>
              </a:buClr>
              <a:buFont typeface="Arial"/>
              <a:buChar char="•"/>
            </a:pP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파일 전체 재작성은 절대 맡기지 않음</a:t>
            </a:r>
          </a:p>
        </p:txBody>
      </p:sp>
      <p:sp>
        <p:nvSpPr>
          <p:cNvPr id="11" name="s11"/>
          <p:cNvSpPr/>
          <p:nvPr/>
        </p:nvSpPr>
        <p:spPr>
          <a:xfrm>
            <a:off x="5896000" y="3550000"/>
            <a:ext cx="400000" cy="400000"/>
          </a:xfrm>
          <a:prstGeom prst="ellipse">
            <a:avLst/>
          </a:prstGeom>
          <a:solidFill>
            <a:srgbClr val="D9E2F3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+</a:t>
            </a:r>
          </a:p>
        </p:txBody>
      </p:sp>
      <p:sp>
        <p:nvSpPr>
          <p:cNvPr id="12" name="s12"/>
          <p:cNvSpPr/>
          <p:nvPr/>
        </p:nvSpPr>
        <p:spPr>
          <a:xfrm>
            <a:off x="700000" y="5350000"/>
            <a:ext cx="10792000" cy="800000"/>
          </a:xfrm>
          <a:prstGeom prst="roundRect">
            <a:avLst/>
          </a:prstGeom>
          <a:solidFill>
            <a:srgbClr val="EAF4EB"/>
          </a:solidFill>
          <a:ln w="9525">
            <a:solidFill>
              <a:srgbClr val="2E7D32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500" b="1" dirty="0">
                <a:solidFill>
                  <a:srgbClr val="2E7D32"/>
                </a:solidFill>
                <a:latin typeface="Malgun Gothic"/>
                <a:ea typeface="Malgun Gothic"/>
              </a:rPr>
              <a:t>결과:  </a:t>
            </a:r>
            <a:r>
              <a:rPr lang="ko-KR" sz="1500" b="1" dirty="0">
                <a:solidFill>
                  <a:srgbClr val="2E7D32"/>
                </a:solidFill>
                <a:latin typeface="Malgun Gothic"/>
                <a:ea typeface="Malgun Gothic"/>
              </a:rPr>
              <a:t>약한 모델로도 구조 파손 없는 안전한 편집 — 편집 무결성을 모델이 아닌 프로그램이 보장</a:t>
            </a:r>
          </a:p>
        </p:txBody>
      </p:sp>
      <p:sp>
        <p:nvSpPr>
          <p:cNvPr id="13" name="s13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핵심 사상, 쉽게 풀어보면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앞 장의 용어를 일상 언어로 바꾸면 이렇습니다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480000"/>
            <a:ext cx="10792000" cy="8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7" name="s7"/>
          <p:cNvSpPr/>
          <p:nvPr/>
        </p:nvSpPr>
        <p:spPr>
          <a:xfrm>
            <a:off x="850000" y="1480000"/>
            <a:ext cx="2500000" cy="83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① 결정론</a:t>
            </a:r>
          </a:p>
        </p:txBody>
      </p:sp>
      <p:sp>
        <p:nvSpPr>
          <p:cNvPr id="8" name="s8"/>
          <p:cNvSpPr/>
          <p:nvPr/>
        </p:nvSpPr>
        <p:spPr>
          <a:xfrm>
            <a:off x="3400000" y="1480000"/>
            <a:ext cx="7950000" cy="83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같은 입력이면 항상 같은 결과가 나오는 일반 프로그램 코드 — LLM처럼 그때그때 답이 달라지지 않아, 검증된 로직은 절대 틀리지 않는다</a:t>
            </a:r>
          </a:p>
        </p:txBody>
      </p:sp>
      <p:sp>
        <p:nvSpPr>
          <p:cNvPr id="9" name="s9"/>
          <p:cNvSpPr/>
          <p:nvPr/>
        </p:nvSpPr>
        <p:spPr>
          <a:xfrm>
            <a:off x="700000" y="2390000"/>
            <a:ext cx="10792000" cy="8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0" name="s10"/>
          <p:cNvSpPr/>
          <p:nvPr/>
        </p:nvSpPr>
        <p:spPr>
          <a:xfrm>
            <a:off x="850000" y="2390000"/>
            <a:ext cx="2500000" cy="83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② 분해 · 위치 결정</a:t>
            </a:r>
          </a:p>
        </p:txBody>
      </p:sp>
      <p:sp>
        <p:nvSpPr>
          <p:cNvPr id="11" name="s11"/>
          <p:cNvSpPr/>
          <p:nvPr/>
        </p:nvSpPr>
        <p:spPr>
          <a:xfrm>
            <a:off x="3400000" y="2390000"/>
            <a:ext cx="7950000" cy="83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파일을 규칙대로 쪼개고 고칠 곳을 Axiom이 딱 찝는다 — 모델은 "어디를 고칠지" 자체를 모르므로 위치에 대한 환각이 원천 제거된다</a:t>
            </a:r>
          </a:p>
        </p:txBody>
      </p:sp>
      <p:sp>
        <p:nvSpPr>
          <p:cNvPr id="12" name="s12"/>
          <p:cNvSpPr/>
          <p:nvPr/>
        </p:nvSpPr>
        <p:spPr>
          <a:xfrm>
            <a:off x="700000" y="3300000"/>
            <a:ext cx="10792000" cy="8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3" name="s13"/>
          <p:cNvSpPr/>
          <p:nvPr/>
        </p:nvSpPr>
        <p:spPr>
          <a:xfrm>
            <a:off x="850000" y="3300000"/>
            <a:ext cx="2500000" cy="83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③ 규약(계약) 자동 주입</a:t>
            </a:r>
          </a:p>
        </p:txBody>
      </p:sp>
      <p:sp>
        <p:nvSpPr>
          <p:cNvPr id="14" name="s14"/>
          <p:cNvSpPr/>
          <p:nvPr/>
        </p:nvSpPr>
        <p:spPr>
          <a:xfrm>
            <a:off x="3400000" y="3300000"/>
            <a:ext cx="7950000" cy="83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코드에서 사내 함수 사용이 탐지되면, 그 함수의 올바른 사용법 "정답지"를 프롬프트에 자동으로 붙여 보낸다 — 사용법을 지어낼 수 없게</a:t>
            </a:r>
          </a:p>
        </p:txBody>
      </p:sp>
      <p:sp>
        <p:nvSpPr>
          <p:cNvPr id="15" name="s15"/>
          <p:cNvSpPr/>
          <p:nvPr/>
        </p:nvSpPr>
        <p:spPr>
          <a:xfrm>
            <a:off x="700000" y="4210000"/>
            <a:ext cx="10792000" cy="8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6" name="s16"/>
          <p:cNvSpPr/>
          <p:nvPr/>
        </p:nvSpPr>
        <p:spPr>
          <a:xfrm>
            <a:off x="850000" y="4210000"/>
            <a:ext cx="2500000" cy="83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④ 게이트 · 컴파일러 검증</a:t>
            </a:r>
          </a:p>
        </p:txBody>
      </p:sp>
      <p:sp>
        <p:nvSpPr>
          <p:cNvPr id="17" name="s17"/>
          <p:cNvSpPr/>
          <p:nvPr/>
        </p:nvSpPr>
        <p:spPr>
          <a:xfrm>
            <a:off x="3400000" y="4210000"/>
            <a:ext cx="7950000" cy="83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모델이 준 코드를 규칙 검사(검열) + 타입 검사(tsc) 2중으로 확인 — 불합격품은 파일에 절대 들어가지 않는다</a:t>
            </a:r>
          </a:p>
        </p:txBody>
      </p:sp>
      <p:sp>
        <p:nvSpPr>
          <p:cNvPr id="18" name="s18"/>
          <p:cNvSpPr/>
          <p:nvPr/>
        </p:nvSpPr>
        <p:spPr>
          <a:xfrm>
            <a:off x="700000" y="5120000"/>
            <a:ext cx="10792000" cy="8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9" name="s19"/>
          <p:cNvSpPr/>
          <p:nvPr/>
        </p:nvSpPr>
        <p:spPr>
          <a:xfrm>
            <a:off x="850000" y="5120000"/>
            <a:ext cx="2500000" cy="83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⑤ 객관식 선택</a:t>
            </a:r>
          </a:p>
        </p:txBody>
      </p:sp>
      <p:sp>
        <p:nvSpPr>
          <p:cNvPr id="20" name="s20"/>
          <p:cNvSpPr/>
          <p:nvPr/>
        </p:nvSpPr>
        <p:spPr>
          <a:xfrm>
            <a:off x="3400000" y="5120000"/>
            <a:ext cx="7950000" cy="83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고칠 후보가 여러 곳이면 Axiom이 번호 목록을 만들고 모델은 번호만 답한다 — "보고 고르는 것"은 약한 모델도 잘하기 때문</a:t>
            </a:r>
          </a:p>
        </p:txBody>
      </p:sp>
      <p:sp>
        <p:nvSpPr>
          <p:cNvPr id="21" name="s21"/>
          <p:cNvSpPr/>
          <p:nvPr/>
        </p:nvSpPr>
        <p:spPr>
          <a:xfrm>
            <a:off x="700000" y="6030000"/>
            <a:ext cx="10792000" cy="38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200" b="1" dirty="0">
                <a:solidFill>
                  <a:srgbClr val="C55A11"/>
                </a:solidFill>
                <a:latin typeface="Malgun Gothic"/>
                <a:ea typeface="Malgun Gothic"/>
              </a:rPr>
              <a:t>요약:  </a:t>
            </a:r>
            <a:r>
              <a:rPr lang="ko-KR" sz="1200" b="1" dirty="0">
                <a:solidFill>
                  <a:srgbClr val="1F3864"/>
                </a:solidFill>
                <a:latin typeface="Malgun Gothic"/>
                <a:ea typeface="Malgun Gothic"/>
              </a:rPr>
              <a:t>틀리면 안 되는 "결정"은 전부 프로그램이, 틀려도 걸러낼 수 있는 "생성"만 모델이 맡는다</a:t>
            </a:r>
          </a:p>
        </p:txBody>
      </p:sp>
      <p:sp>
        <p:nvSpPr>
          <p:cNvPr id="22" name="s22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기존 도구와의 차이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선행기술(Copilot · Cursor 계열)과 갈라지는 지점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graphicFrame>
        <p:nvGraphicFramePr>
          <p:cNvPr id="6" name="tbl6"/>
          <p:cNvGraphicFramePr/>
          <p:nvPr/>
        </p:nvGraphicFramePr>
        <p:xfrm>
          <a:off x="700000" y="1550000"/>
          <a:ext cx="10792000" cy="4020000"/>
        </p:xfrm>
        <a:graphic>
          <a:graphicData uri="http://schemas.openxmlformats.org/drawingml/2006/table">
            <a:tbl>
              <a:tblPr/>
              <a:tblGrid>
                <a:gridCol w="1600000"/>
                <a:gridCol w="4596000"/>
                <a:gridCol w="4596000"/>
              </a:tblGrid>
              <a:tr h="6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3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구분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3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기존 도구 (Copilot · Cursor)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3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본 발명 (Axiom AI)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85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50" b="1" dirty="0">
                          <a:solidFill>
                            <a:srgbClr val="1F3864"/>
                          </a:solidFill>
                          <a:latin typeface="Malgun Gothic"/>
                          <a:ea typeface="Malgun Gothic"/>
                        </a:rPr>
                        <a:t>실행 환경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50" dirty="0">
                          <a:solidFill>
                            <a:srgbClr val="595959"/>
                          </a:solidFill>
                          <a:latin typeface="Malgun Gothic"/>
                          <a:ea typeface="Malgun Gothic"/>
                        </a:rPr>
                        <a:t>클라우드 대형 모델 필수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50" b="1" dirty="0">
                          <a:solidFill>
                            <a:srgbClr val="1F3864"/>
                          </a:solidFill>
                          <a:latin typeface="Malgun Gothic"/>
                          <a:ea typeface="Malgun Gothic"/>
                        </a:rPr>
                        <a:t>폐쇄망 · 로컬 소형 모델(sLLM) 전제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EAF0FA"/>
                    </a:solidFill>
                  </a:tcPr>
                </a:tc>
              </a:tr>
              <a:tr h="85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50" b="1" dirty="0">
                          <a:solidFill>
                            <a:srgbClr val="1F3864"/>
                          </a:solidFill>
                          <a:latin typeface="Malgun Gothic"/>
                          <a:ea typeface="Malgun Gothic"/>
                        </a:rPr>
                        <a:t>편집 방식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50" dirty="0">
                          <a:solidFill>
                            <a:srgbClr val="595959"/>
                          </a:solidFill>
                          <a:latin typeface="Malgun Gothic"/>
                          <a:ea typeface="Malgun Gothic"/>
                        </a:rPr>
                        <a:t>모델이 파일 전체 · 넓은 범위를 재작성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50" b="1" dirty="0">
                          <a:solidFill>
                            <a:srgbClr val="1F3864"/>
                          </a:solidFill>
                          <a:latin typeface="Malgun Gothic"/>
                          <a:ea typeface="Malgun Gothic"/>
                        </a:rPr>
                        <a:t>프로그램이 구조 분해 · 위치 결정, 모델은 조각만 생성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EAF0FA"/>
                    </a:solidFill>
                  </a:tcPr>
                </a:tc>
              </a:tr>
              <a:tr h="85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50" b="1" dirty="0">
                          <a:solidFill>
                            <a:srgbClr val="1F3864"/>
                          </a:solidFill>
                          <a:latin typeface="Malgun Gothic"/>
                          <a:ea typeface="Malgun Gothic"/>
                        </a:rPr>
                        <a:t>환각 억제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50" dirty="0">
                          <a:solidFill>
                            <a:srgbClr val="595959"/>
                          </a:solidFill>
                          <a:latin typeface="Malgun Gothic"/>
                          <a:ea typeface="Malgun Gothic"/>
                        </a:rPr>
                        <a:t>모델 성능에 의존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50" b="1" dirty="0">
                          <a:solidFill>
                            <a:srgbClr val="1F3864"/>
                          </a:solidFill>
                          <a:latin typeface="Malgun Gothic"/>
                          <a:ea typeface="Malgun Gothic"/>
                        </a:rPr>
                        <a:t>계약 자동 주입 + 결정론 게이트로 차단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EAF0FA"/>
                    </a:solidFill>
                  </a:tcPr>
                </a:tc>
              </a:tr>
              <a:tr h="85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50" b="1" dirty="0">
                          <a:solidFill>
                            <a:srgbClr val="1F3864"/>
                          </a:solidFill>
                          <a:latin typeface="Malgun Gothic"/>
                          <a:ea typeface="Malgun Gothic"/>
                        </a:rPr>
                        <a:t>모델 미연결 시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50" dirty="0">
                          <a:solidFill>
                            <a:srgbClr val="595959"/>
                          </a:solidFill>
                          <a:latin typeface="Malgun Gothic"/>
                          <a:ea typeface="Malgun Gothic"/>
                        </a:rPr>
                        <a:t>동작 불가 (오류 표시)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50" b="1" dirty="0">
                          <a:solidFill>
                            <a:srgbClr val="1F3864"/>
                          </a:solidFill>
                          <a:latin typeface="Malgun Gothic"/>
                          <a:ea typeface="Malgun Gothic"/>
                        </a:rPr>
                        <a:t>로컬 지식 의미검색으로 모델 비의존 응답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EAF0FA"/>
                    </a:solidFill>
                  </a:tcPr>
                </a:tc>
              </a:tr>
            </a:tbl>
          </a:graphicData>
        </a:graphic>
      </p:graphicFrame>
      <p:sp>
        <p:nvSpPr>
          <p:cNvPr id="7" name="s7"/>
          <p:cNvSpPr/>
          <p:nvPr/>
        </p:nvSpPr>
        <p:spPr>
          <a:xfrm>
            <a:off x="700000" y="5750000"/>
            <a:ext cx="10792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※ 개별 요소(LLM 코드수정 · RAG · AST 편집)는 공지 기술 — 진보성은 이 결합의 구체적 구성에서 확보</a:t>
            </a:r>
          </a:p>
        </p:txBody>
      </p:sp>
      <p:sp>
        <p:nvSpPr>
          <p:cNvPr id="8" name="s8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08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우리가 인지한 선행·유사 기술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발명자가 아는 범위의 예비 조사 — 정식 선행기술조사는 변리사님 진행을 전제로 합니다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graphicFrame>
        <p:nvGraphicFramePr>
          <p:cNvPr id="6" name="tbl6"/>
          <p:cNvGraphicFramePr/>
          <p:nvPr/>
        </p:nvGraphicFramePr>
        <p:xfrm>
          <a:off x="700000" y="1500000"/>
          <a:ext cx="10792000" cy="4460000"/>
        </p:xfrm>
        <a:graphic>
          <a:graphicData uri="http://schemas.openxmlformats.org/drawingml/2006/table">
            <a:tbl>
              <a:tblPr/>
              <a:tblGrid>
                <a:gridCol w="1900000"/>
                <a:gridCol w="4200000"/>
                <a:gridCol w="4692000"/>
              </a:tblGrid>
              <a:tr h="5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기술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방식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본 발명과의 차이 (발명자 판단)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rgbClr val="1F3864"/>
                          </a:solidFill>
                          <a:latin typeface="Malgun Gothic"/>
                          <a:ea typeface="Malgun Gothic"/>
                        </a:rPr>
                        <a:t>GitHub Copilot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150" dirty="0">
                          <a:solidFill>
                            <a:srgbClr val="595959"/>
                          </a:solidFill>
                          <a:latin typeface="Malgun Gothic"/>
                          <a:ea typeface="Malgun Gothic"/>
                        </a:rPr>
                        <a:t>클라우드 대형 모델 인라인 완성·채팅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150" b="1" dirty="0">
                          <a:solidFill>
                            <a:srgbClr val="1F3864"/>
                          </a:solidFill>
                          <a:latin typeface="Malgun Gothic"/>
                          <a:ea typeface="Malgun Gothic"/>
                        </a:rPr>
                        <a:t>폐쇄망 사용 불가 · 편집 무결성 보장 장치 없음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EAF0FA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rgbClr val="1F3864"/>
                          </a:solidFill>
                          <a:latin typeface="Malgun Gothic"/>
                          <a:ea typeface="Malgun Gothic"/>
                        </a:rPr>
                        <a:t>Cursor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150" dirty="0">
                          <a:solidFill>
                            <a:srgbClr val="595959"/>
                          </a:solidFill>
                          <a:latin typeface="Malgun Gothic"/>
                          <a:ea typeface="Malgun Gothic"/>
                        </a:rPr>
                        <a:t>클라우드 모델 에이전트가 파일 재작성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150" b="1" dirty="0">
                          <a:solidFill>
                            <a:srgbClr val="1F3864"/>
                          </a:solidFill>
                          <a:latin typeface="Malgun Gothic"/>
                          <a:ea typeface="Malgun Gothic"/>
                        </a:rPr>
                        <a:t>강모델 전제 — 약한 모델에서의 파손 억제 구조 없음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EAF0FA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rgbClr val="1F3864"/>
                          </a:solidFill>
                          <a:latin typeface="Malgun Gothic"/>
                          <a:ea typeface="Malgun Gothic"/>
                        </a:rPr>
                        <a:t>Continue 등 로컬 LLM 확장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150" dirty="0">
                          <a:solidFill>
                            <a:srgbClr val="595959"/>
                          </a:solidFill>
                          <a:latin typeface="Malgun Gothic"/>
                          <a:ea typeface="Malgun Gothic"/>
                        </a:rPr>
                        <a:t>로컬 모델을 채팅·편집에 연결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150" b="1" dirty="0">
                          <a:solidFill>
                            <a:srgbClr val="1F3864"/>
                          </a:solidFill>
                          <a:latin typeface="Malgun Gothic"/>
                          <a:ea typeface="Malgun Gothic"/>
                        </a:rPr>
                        <a:t>모델 출력을 그대로 적용 — 결정론 게이트·계약 주입 부재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EAF0FA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rgbClr val="1F3864"/>
                          </a:solidFill>
                          <a:latin typeface="Malgun Gothic"/>
                          <a:ea typeface="Malgun Gothic"/>
                        </a:rPr>
                        <a:t>Aider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150" dirty="0">
                          <a:solidFill>
                            <a:srgbClr val="595959"/>
                          </a:solidFill>
                          <a:latin typeface="Malgun Gothic"/>
                          <a:ea typeface="Malgun Gothic"/>
                        </a:rPr>
                        <a:t>diff 기반 CLI 편집 도구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150" b="1" dirty="0">
                          <a:solidFill>
                            <a:srgbClr val="1F3864"/>
                          </a:solidFill>
                          <a:latin typeface="Malgun Gothic"/>
                          <a:ea typeface="Malgun Gothic"/>
                        </a:rPr>
                        <a:t>강모델 전제 · 프레임워크 계약 주입 없음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EAF0FA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rgbClr val="1F3864"/>
                          </a:solidFill>
                          <a:latin typeface="Malgun Gothic"/>
                          <a:ea typeface="Malgun Gothic"/>
                        </a:rPr>
                        <a:t>일반 RAG 기법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150" dirty="0">
                          <a:solidFill>
                            <a:srgbClr val="595959"/>
                          </a:solidFill>
                          <a:latin typeface="Malgun Gothic"/>
                          <a:ea typeface="Malgun Gothic"/>
                        </a:rPr>
                        <a:t>유사도 검색으로 참고문서를 프롬프트에 주입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150" b="1" dirty="0">
                          <a:solidFill>
                            <a:srgbClr val="1F3864"/>
                          </a:solidFill>
                          <a:latin typeface="Malgun Gothic"/>
                          <a:ea typeface="Malgun Gothic"/>
                        </a:rPr>
                        <a:t>확률적 선택 — 본 발명은 조건 판정(트리거)으로 100%/0% 주입</a:t>
                      </a:r>
                    </a:p>
                  </a:txBody>
                  <a:tcPr marL="90000" marR="90000" marT="45000" marB="45000" anchor="ctr">
                    <a:lnL w="6350">
                      <a:solidFill>
                        <a:srgbClr val="C9CED6"/>
                      </a:solidFill>
                    </a:lnL>
                    <a:lnR w="6350">
                      <a:solidFill>
                        <a:srgbClr val="C9CED6"/>
                      </a:solidFill>
                    </a:lnR>
                    <a:lnT w="6350">
                      <a:solidFill>
                        <a:srgbClr val="C9CED6"/>
                      </a:solidFill>
                    </a:lnT>
                    <a:lnB w="6350">
                      <a:solidFill>
                        <a:srgbClr val="C9CED6"/>
                      </a:solidFill>
                    </a:lnB>
                    <a:solidFill>
                      <a:srgbClr val="EAF0FA"/>
                    </a:solidFill>
                  </a:tcPr>
                </a:tc>
              </a:tr>
            </a:tbl>
          </a:graphicData>
        </a:graphic>
      </p:graphicFrame>
      <p:sp>
        <p:nvSpPr>
          <p:cNvPr id="7" name="s7"/>
          <p:cNvSpPr/>
          <p:nvPr/>
        </p:nvSpPr>
        <p:spPr>
          <a:xfrm>
            <a:off x="700000" y="6100000"/>
            <a:ext cx="10792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※ 위 표는 발명자 인지 범위입니다 — 등록 가능성 판단은 정식 선행기술조사(특허문헌 포함) 결과에 따릅니다</a:t>
            </a:r>
          </a:p>
        </p:txBody>
      </p:sp>
      <p:sp>
        <p:nvSpPr>
          <p:cNvPr id="8" name="s8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09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청구항 후보 — 핵심 메커니즘 5종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모두 실제 코드로 구현 · 검증되어 실시예로 뒷받침 가능합니다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550000"/>
            <a:ext cx="10792000" cy="85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7" name="s7"/>
          <p:cNvSpPr/>
          <p:nvPr/>
        </p:nvSpPr>
        <p:spPr>
          <a:xfrm>
            <a:off x="850000" y="1695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A</a:t>
            </a:r>
          </a:p>
        </p:txBody>
      </p:sp>
      <p:sp>
        <p:nvSpPr>
          <p:cNvPr id="8" name="s8"/>
          <p:cNvSpPr/>
          <p:nvPr/>
        </p:nvSpPr>
        <p:spPr>
          <a:xfrm>
            <a:off x="1650000" y="1550000"/>
            <a:ext cx="79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하이브리드 영역 편집</a:t>
            </a: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   —   프로그램이 위치를 정하고, 모델은 코드 조각만 생성</a:t>
            </a:r>
          </a:p>
        </p:txBody>
      </p:sp>
      <p:sp>
        <p:nvSpPr>
          <p:cNvPr id="9" name="s9"/>
          <p:cNvSpPr/>
          <p:nvPr/>
        </p:nvSpPr>
        <p:spPr>
          <a:xfrm>
            <a:off x="9800000" y="1765000"/>
            <a:ext cx="1500000" cy="420000"/>
          </a:xfrm>
          <a:prstGeom prst="roundRect">
            <a:avLst/>
          </a:prstGeom>
          <a:solidFill>
            <a:srgbClr val="FDF0E7"/>
          </a:solidFill>
          <a:ln w="9525">
            <a:solidFill>
              <a:srgbClr val="C55A11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050" b="1" dirty="0">
                <a:solidFill>
                  <a:srgbClr val="C55A11"/>
                </a:solidFill>
                <a:latin typeface="Malgun Gothic"/>
                <a:ea typeface="Malgun Gothic"/>
              </a:rPr>
              <a:t>주 청구항 후보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2530000"/>
            <a:ext cx="10792000" cy="85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1" name="s11"/>
          <p:cNvSpPr/>
          <p:nvPr/>
        </p:nvSpPr>
        <p:spPr>
          <a:xfrm>
            <a:off x="850000" y="2675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B</a:t>
            </a:r>
          </a:p>
        </p:txBody>
      </p:sp>
      <p:sp>
        <p:nvSpPr>
          <p:cNvPr id="12" name="s12"/>
          <p:cNvSpPr/>
          <p:nvPr/>
        </p:nvSpPr>
        <p:spPr>
          <a:xfrm>
            <a:off x="1650000" y="2530000"/>
            <a:ext cx="79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트리거 기반 계약 주입</a:t>
            </a: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   —   코드에서 패턴 탐지 시 정확한 API 규약을 프롬프트에 자동 주입</a:t>
            </a:r>
          </a:p>
        </p:txBody>
      </p:sp>
      <p:sp>
        <p:nvSpPr>
          <p:cNvPr id="13" name="s13"/>
          <p:cNvSpPr/>
          <p:nvPr/>
        </p:nvSpPr>
        <p:spPr>
          <a:xfrm>
            <a:off x="9800000" y="2745000"/>
            <a:ext cx="1500000" cy="420000"/>
          </a:xfrm>
          <a:prstGeom prst="roundRect">
            <a:avLst/>
          </a:prstGeom>
          <a:solidFill>
            <a:srgbClr val="FDF0E7"/>
          </a:solidFill>
          <a:ln w="9525">
            <a:solidFill>
              <a:srgbClr val="C55A11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050" b="1" dirty="0">
                <a:solidFill>
                  <a:srgbClr val="C55A11"/>
                </a:solidFill>
                <a:latin typeface="Malgun Gothic"/>
                <a:ea typeface="Malgun Gothic"/>
              </a:rPr>
              <a:t>주 청구항 후보</a:t>
            </a:r>
          </a:p>
        </p:txBody>
      </p:sp>
      <p:sp>
        <p:nvSpPr>
          <p:cNvPr id="14" name="s14"/>
          <p:cNvSpPr/>
          <p:nvPr/>
        </p:nvSpPr>
        <p:spPr>
          <a:xfrm>
            <a:off x="700000" y="3510000"/>
            <a:ext cx="10792000" cy="85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5" name="s15"/>
          <p:cNvSpPr/>
          <p:nvPr/>
        </p:nvSpPr>
        <p:spPr>
          <a:xfrm>
            <a:off x="850000" y="3655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C</a:t>
            </a:r>
          </a:p>
        </p:txBody>
      </p:sp>
      <p:sp>
        <p:nvSpPr>
          <p:cNvPr id="16" name="s16"/>
          <p:cNvSpPr/>
          <p:nvPr/>
        </p:nvSpPr>
        <p:spPr>
          <a:xfrm>
            <a:off x="1650000" y="3510000"/>
            <a:ext cx="79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객관식 모호성 해소</a:t>
            </a: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   —   모델은 편집 후보의 번호만 선택 — 자유 생성 배제</a:t>
            </a:r>
          </a:p>
        </p:txBody>
      </p:sp>
      <p:sp>
        <p:nvSpPr>
          <p:cNvPr id="17" name="s17"/>
          <p:cNvSpPr/>
          <p:nvPr/>
        </p:nvSpPr>
        <p:spPr>
          <a:xfrm>
            <a:off x="700000" y="4490000"/>
            <a:ext cx="10792000" cy="85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8" name="s18"/>
          <p:cNvSpPr/>
          <p:nvPr/>
        </p:nvSpPr>
        <p:spPr>
          <a:xfrm>
            <a:off x="850000" y="4635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D</a:t>
            </a:r>
          </a:p>
        </p:txBody>
      </p:sp>
      <p:sp>
        <p:nvSpPr>
          <p:cNvPr id="19" name="s19"/>
          <p:cNvSpPr/>
          <p:nvPr/>
        </p:nvSpPr>
        <p:spPr>
          <a:xfrm>
            <a:off x="1650000" y="4490000"/>
            <a:ext cx="79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컴파일러 검증-교정 루프</a:t>
            </a: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   —   편집 결과를 타입검사(tsc)로 검증하고 자동 교정</a:t>
            </a:r>
          </a:p>
        </p:txBody>
      </p:sp>
      <p:sp>
        <p:nvSpPr>
          <p:cNvPr id="20" name="s20"/>
          <p:cNvSpPr/>
          <p:nvPr/>
        </p:nvSpPr>
        <p:spPr>
          <a:xfrm>
            <a:off x="700000" y="5470000"/>
            <a:ext cx="10792000" cy="85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1" name="s21"/>
          <p:cNvSpPr/>
          <p:nvPr/>
        </p:nvSpPr>
        <p:spPr>
          <a:xfrm>
            <a:off x="850000" y="5615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E</a:t>
            </a:r>
          </a:p>
        </p:txBody>
      </p:sp>
      <p:sp>
        <p:nvSpPr>
          <p:cNvPr id="22" name="s22"/>
          <p:cNvSpPr/>
          <p:nvPr/>
        </p:nvSpPr>
        <p:spPr>
          <a:xfrm>
            <a:off x="1650000" y="5470000"/>
            <a:ext cx="79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오프라인 지식응답 · 실패 포집</a:t>
            </a: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   —   모델 없이도 동작, 데이터 외부 반출 없음</a:t>
            </a:r>
          </a:p>
        </p:txBody>
      </p:sp>
      <p:sp>
        <p:nvSpPr>
          <p:cNvPr id="23" name="s23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후보 A — 하이브리드 영역 편집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주 청구항 후보 ① : 편집 무결성을 프로그램이 보장하는 5단계 처리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46000" y="1700000"/>
            <a:ext cx="1900000" cy="15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050" b="1" dirty="0">
                <a:solidFill>
                  <a:srgbClr val="8FAADC"/>
                </a:solidFill>
                <a:latin typeface="Malgun Gothic"/>
                <a:ea typeface="Malgun Gothic"/>
              </a:rPr>
              <a:t>STEP 1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파일 입력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편집 대상 소스</a:t>
            </a:r>
          </a:p>
        </p:txBody>
      </p:sp>
      <p:sp>
        <p:nvSpPr>
          <p:cNvPr id="7" name="s7"/>
          <p:cNvSpPr/>
          <p:nvPr/>
        </p:nvSpPr>
        <p:spPr>
          <a:xfrm>
            <a:off x="2666000" y="2345000"/>
            <a:ext cx="260000" cy="260000"/>
          </a:xfrm>
          <a:prstGeom prst="rightArrow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8" name="s8"/>
          <p:cNvSpPr/>
          <p:nvPr/>
        </p:nvSpPr>
        <p:spPr>
          <a:xfrm>
            <a:off x="2946000" y="1700000"/>
            <a:ext cx="1900000" cy="15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050" b="1" dirty="0">
                <a:solidFill>
                  <a:srgbClr val="8FAADC"/>
                </a:solidFill>
                <a:latin typeface="Malgun Gothic"/>
                <a:ea typeface="Malgun Gothic"/>
              </a:rPr>
              <a:t>STEP 2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구조 분해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결정론적 섹션 분리</a:t>
            </a:r>
          </a:p>
        </p:txBody>
      </p:sp>
      <p:sp>
        <p:nvSpPr>
          <p:cNvPr id="9" name="s9"/>
          <p:cNvSpPr/>
          <p:nvPr/>
        </p:nvSpPr>
        <p:spPr>
          <a:xfrm>
            <a:off x="4866000" y="2345000"/>
            <a:ext cx="260000" cy="260000"/>
          </a:xfrm>
          <a:prstGeom prst="rightArrow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" name="s10"/>
          <p:cNvSpPr/>
          <p:nvPr/>
        </p:nvSpPr>
        <p:spPr>
          <a:xfrm>
            <a:off x="5146000" y="1700000"/>
            <a:ext cx="1900000" cy="15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050" b="1" dirty="0">
                <a:solidFill>
                  <a:srgbClr val="8FAADC"/>
                </a:solidFill>
                <a:latin typeface="Malgun Gothic"/>
                <a:ea typeface="Malgun Gothic"/>
              </a:rPr>
              <a:t>STEP 3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대상 영역 특정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편집 위치를 프로그램이 결정</a:t>
            </a:r>
          </a:p>
        </p:txBody>
      </p:sp>
      <p:sp>
        <p:nvSpPr>
          <p:cNvPr id="11" name="s11"/>
          <p:cNvSpPr/>
          <p:nvPr/>
        </p:nvSpPr>
        <p:spPr>
          <a:xfrm>
            <a:off x="7066000" y="2345000"/>
            <a:ext cx="260000" cy="260000"/>
          </a:xfrm>
          <a:prstGeom prst="rightArrow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2" name="s12"/>
          <p:cNvSpPr/>
          <p:nvPr/>
        </p:nvSpPr>
        <p:spPr>
          <a:xfrm>
            <a:off x="7346000" y="1700000"/>
            <a:ext cx="1900000" cy="1550000"/>
          </a:xfrm>
          <a:prstGeom prst="roundRect">
            <a:avLst/>
          </a:prstGeom>
          <a:solidFill>
            <a:srgbClr val="FDF0E7"/>
          </a:solidFill>
          <a:ln w="9525">
            <a:solidFill>
              <a:srgbClr val="C55A11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050" b="1" dirty="0">
                <a:solidFill>
                  <a:srgbClr val="C55A11"/>
                </a:solidFill>
                <a:latin typeface="Malgun Gothic"/>
                <a:ea typeface="Malgun Gothic"/>
              </a:rPr>
              <a:t>STEP 4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조각 생성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모델(sLLM)의 유일한 역할</a:t>
            </a:r>
          </a:p>
        </p:txBody>
      </p:sp>
      <p:sp>
        <p:nvSpPr>
          <p:cNvPr id="13" name="s13"/>
          <p:cNvSpPr/>
          <p:nvPr/>
        </p:nvSpPr>
        <p:spPr>
          <a:xfrm>
            <a:off x="9266000" y="2345000"/>
            <a:ext cx="260000" cy="260000"/>
          </a:xfrm>
          <a:prstGeom prst="rightArrow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4" name="s14"/>
          <p:cNvSpPr/>
          <p:nvPr/>
        </p:nvSpPr>
        <p:spPr>
          <a:xfrm>
            <a:off x="9546000" y="1700000"/>
            <a:ext cx="1900000" cy="15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050" b="1" dirty="0">
                <a:solidFill>
                  <a:srgbClr val="8FAADC"/>
                </a:solidFill>
                <a:latin typeface="Malgun Gothic"/>
                <a:ea typeface="Malgun Gothic"/>
              </a:rPr>
              <a:t>STEP 5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병합 + 게이트 검증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결정론적 병합 · 거부 게이트</a:t>
            </a:r>
          </a:p>
        </p:txBody>
      </p:sp>
      <p:sp>
        <p:nvSpPr>
          <p:cNvPr id="15" name="s15"/>
          <p:cNvSpPr/>
          <p:nvPr/>
        </p:nvSpPr>
        <p:spPr>
          <a:xfrm>
            <a:off x="700000" y="3450000"/>
            <a:ext cx="10792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모델이 관여하는 곳은 </a:t>
            </a: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STEP 4 한 곳뿐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 — 나머지는 모두 프로그램이 결정론적으로 보장</a:t>
            </a:r>
          </a:p>
        </p:txBody>
      </p:sp>
      <p:sp>
        <p:nvSpPr>
          <p:cNvPr id="16" name="s16"/>
          <p:cNvSpPr/>
          <p:nvPr/>
        </p:nvSpPr>
        <p:spPr>
          <a:xfrm>
            <a:off x="700000" y="4100000"/>
            <a:ext cx="10792000" cy="16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400" b="1" dirty="0">
                <a:solidFill>
                  <a:srgbClr val="1F3864"/>
                </a:solidFill>
                <a:latin typeface="Malgun Gothic"/>
                <a:ea typeface="Malgun Gothic"/>
              </a:rPr>
              <a:t>진보성 포인트</a:t>
            </a:r>
          </a:p>
          <a:p>
            <a:pPr algn="l" marL="228600" indent="-228600">
              <a:spcBef>
                <a:spcPts val="400"/>
              </a:spcBef>
              <a:buClr>
                <a:srgbClr val="2E5395"/>
              </a:buClr>
              <a:buFont typeface="Arial"/>
              <a:buChar char="•"/>
            </a:pP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모델이 파일 전체를 재작성하지 않으므로, 약한 모델에서도 구조 파손이 발생하지 않는다</a:t>
            </a:r>
          </a:p>
          <a:p>
            <a:pPr algn="l" marL="228600" indent="-228600">
              <a:spcBef>
                <a:spcPts val="400"/>
              </a:spcBef>
              <a:buClr>
                <a:srgbClr val="2E5395"/>
              </a:buClr>
              <a:buFont typeface="Arial"/>
              <a:buChar char="•"/>
            </a:pP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편집 무결성이 모델 성능과 무관 — 모델 신뢰도와 분리된 안전성 보장이 선행기술과의 차이</a:t>
            </a:r>
          </a:p>
        </p:txBody>
      </p:sp>
      <p:sp>
        <p:nvSpPr>
          <p:cNvPr id="17" name="s17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후보 B — 트리거 기반 계약 주입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주 청구항 후보 ② : 환각(hallucination)을 기술 구성으로 차단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846000" y="1700000"/>
            <a:ext cx="2400000" cy="15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050" b="1" dirty="0">
                <a:solidFill>
                  <a:srgbClr val="8FAADC"/>
                </a:solidFill>
                <a:latin typeface="Malgun Gothic"/>
                <a:ea typeface="Malgun Gothic"/>
              </a:rPr>
              <a:t>STEP 1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패턴 탐지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코드에서 프레임워크 사용을 결정론적으로 감지</a:t>
            </a:r>
          </a:p>
        </p:txBody>
      </p:sp>
      <p:sp>
        <p:nvSpPr>
          <p:cNvPr id="7" name="s7"/>
          <p:cNvSpPr/>
          <p:nvPr/>
        </p:nvSpPr>
        <p:spPr>
          <a:xfrm>
            <a:off x="3266000" y="2345000"/>
            <a:ext cx="260000" cy="260000"/>
          </a:xfrm>
          <a:prstGeom prst="rightArrow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8" name="s8"/>
          <p:cNvSpPr/>
          <p:nvPr/>
        </p:nvSpPr>
        <p:spPr>
          <a:xfrm>
            <a:off x="3546000" y="1700000"/>
            <a:ext cx="2400000" cy="15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050" b="1" dirty="0">
                <a:solidFill>
                  <a:srgbClr val="8FAADC"/>
                </a:solidFill>
                <a:latin typeface="Malgun Gothic"/>
                <a:ea typeface="Malgun Gothic"/>
              </a:rPr>
              <a:t>STEP 2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계약 카드 선택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해당 API의 정확한 규약 매칭</a:t>
            </a:r>
          </a:p>
        </p:txBody>
      </p:sp>
      <p:sp>
        <p:nvSpPr>
          <p:cNvPr id="9" name="s9"/>
          <p:cNvSpPr/>
          <p:nvPr/>
        </p:nvSpPr>
        <p:spPr>
          <a:xfrm>
            <a:off x="5966000" y="2345000"/>
            <a:ext cx="260000" cy="260000"/>
          </a:xfrm>
          <a:prstGeom prst="rightArrow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" name="s10"/>
          <p:cNvSpPr/>
          <p:nvPr/>
        </p:nvSpPr>
        <p:spPr>
          <a:xfrm>
            <a:off x="6246000" y="1700000"/>
            <a:ext cx="2400000" cy="15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050" b="1" dirty="0">
                <a:solidFill>
                  <a:srgbClr val="8FAADC"/>
                </a:solidFill>
                <a:latin typeface="Malgun Gothic"/>
                <a:ea typeface="Malgun Gothic"/>
              </a:rPr>
              <a:t>STEP 3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계약 · 골격 주입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프롬프트에 정답 규약을 자동 삽입</a:t>
            </a:r>
          </a:p>
        </p:txBody>
      </p:sp>
      <p:sp>
        <p:nvSpPr>
          <p:cNvPr id="11" name="s11"/>
          <p:cNvSpPr/>
          <p:nvPr/>
        </p:nvSpPr>
        <p:spPr>
          <a:xfrm>
            <a:off x="8666000" y="2345000"/>
            <a:ext cx="260000" cy="260000"/>
          </a:xfrm>
          <a:prstGeom prst="rightArrow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2" name="s12"/>
          <p:cNvSpPr/>
          <p:nvPr/>
        </p:nvSpPr>
        <p:spPr>
          <a:xfrm>
            <a:off x="8946000" y="1700000"/>
            <a:ext cx="2400000" cy="1550000"/>
          </a:xfrm>
          <a:prstGeom prst="roundRect">
            <a:avLst/>
          </a:prstGeom>
          <a:solidFill>
            <a:srgbClr val="FDF0E7"/>
          </a:solidFill>
          <a:ln w="9525">
            <a:solidFill>
              <a:srgbClr val="C55A11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050" b="1" dirty="0">
                <a:solidFill>
                  <a:srgbClr val="C55A11"/>
                </a:solidFill>
                <a:latin typeface="Malgun Gothic"/>
                <a:ea typeface="Malgun Gothic"/>
              </a:rPr>
              <a:t>STEP 4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모델은 빈칸만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골격의 슬롯만 채움</a:t>
            </a:r>
          </a:p>
        </p:txBody>
      </p:sp>
      <p:sp>
        <p:nvSpPr>
          <p:cNvPr id="13" name="s13"/>
          <p:cNvSpPr/>
          <p:nvPr/>
        </p:nvSpPr>
        <p:spPr>
          <a:xfrm>
            <a:off x="700000" y="3500000"/>
            <a:ext cx="10792000" cy="9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250" b="1" dirty="0">
                <a:solidFill>
                  <a:srgbClr val="2E5395"/>
                </a:solidFill>
                <a:latin typeface="Malgun Gothic"/>
                <a:ea typeface="Malgun Gothic"/>
              </a:rPr>
              <a:t>예시:  </a:t>
            </a: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사내 API 훅의 응답 봉투 규약, 날짜 선택 컴포넌트의 4부품 골격 등 — 모델이 자주 틀리는 규약을 "정답"으로 미리 제공</a:t>
            </a:r>
          </a:p>
        </p:txBody>
      </p:sp>
      <p:sp>
        <p:nvSpPr>
          <p:cNvPr id="14" name="s14"/>
          <p:cNvSpPr/>
          <p:nvPr/>
        </p:nvSpPr>
        <p:spPr>
          <a:xfrm>
            <a:off x="700000" y="46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400" b="1" dirty="0">
                <a:solidFill>
                  <a:srgbClr val="1F3864"/>
                </a:solidFill>
                <a:latin typeface="Malgun Gothic"/>
                <a:ea typeface="Malgun Gothic"/>
              </a:rPr>
              <a:t>진보성 포인트</a:t>
            </a:r>
          </a:p>
          <a:p>
            <a:pPr algn="l" marL="228600" indent="-228600">
              <a:spcBef>
                <a:spcPts val="400"/>
              </a:spcBef>
              <a:buClr>
                <a:srgbClr val="2E5395"/>
              </a:buClr>
              <a:buFont typeface="Arial"/>
              <a:buChar char="•"/>
            </a:pP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환각 억제를 프롬프트 문구(모델 설득)가 아니라 "탐지 → 정확 계약 주입"이라는 기술적 구성으로 달성</a:t>
            </a:r>
          </a:p>
          <a:p>
            <a:pPr algn="l" marL="228600" indent="-228600">
              <a:spcBef>
                <a:spcPts val="400"/>
              </a:spcBef>
              <a:buClr>
                <a:srgbClr val="2E5395"/>
              </a:buClr>
              <a:buFont typeface="Arial"/>
              <a:buChar char="•"/>
            </a:pP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레시피형 골격 슬롯 주입은 특히 구체적인 처리 단계로 기재 가능</a:t>
            </a:r>
          </a:p>
        </p:txBody>
      </p:sp>
      <p:sp>
        <p:nvSpPr>
          <p:cNvPr id="15" name="s15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후보 C · D — 종속항 후보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모델의 자유도를 더 줄이고, 결과를 컴파일러로 닫아 거는 두 장치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550000"/>
            <a:ext cx="5296000" cy="520000"/>
          </a:xfrm>
          <a:prstGeom prst="rect">
            <a:avLst/>
          </a:prstGeom>
          <a:solidFill>
            <a:srgbClr val="2E5395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50" b="1" dirty="0">
                <a:solidFill>
                  <a:srgbClr val="FFFFFF"/>
                </a:solidFill>
                <a:latin typeface="Malgun Gothic"/>
                <a:ea typeface="Malgun Gothic"/>
              </a:rPr>
              <a:t>후보 C — 모델 위임 객관식 선택</a:t>
            </a:r>
          </a:p>
        </p:txBody>
      </p:sp>
      <p:sp>
        <p:nvSpPr>
          <p:cNvPr id="7" name="s7"/>
          <p:cNvSpPr/>
          <p:nvPr/>
        </p:nvSpPr>
        <p:spPr>
          <a:xfrm>
            <a:off x="700000" y="2070000"/>
            <a:ext cx="5296000" cy="29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300" b="1" dirty="0">
                <a:solidFill>
                  <a:srgbClr val="2E5395"/>
                </a:solidFill>
                <a:latin typeface="Malgun Gothic"/>
                <a:ea typeface="Malgun Gothic"/>
              </a:rPr>
              <a:t>①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프로그램이 편집 후보 영역을 번호 목록으로 제시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2E5395"/>
                </a:solidFill>
                <a:latin typeface="Malgun Gothic"/>
                <a:ea typeface="Malgun Gothic"/>
              </a:rPr>
              <a:t>②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모델은 "3번" 처럼 번호만 답함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2E5395"/>
                </a:solidFill>
                <a:latin typeface="Malgun Gothic"/>
                <a:ea typeface="Malgun Gothic"/>
              </a:rPr>
              <a:t>③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프로그램이 선택된 영역으로 편집을 재지정</a:t>
            </a:r>
          </a:p>
          <a:p>
            <a:pPr algn="l">
              <a:spcBef>
                <a:spcPts val="800"/>
              </a:spcBef>
              <a:buNone/>
            </a:pPr>
            <a:r>
              <a:rPr lang="ko-KR" sz="1250" b="1" dirty="0">
                <a:solidFill>
                  <a:srgbClr val="C55A11"/>
                </a:solidFill>
                <a:latin typeface="Malgun Gothic"/>
                <a:ea typeface="Malgun Gothic"/>
              </a:rPr>
              <a:t>포인트:  </a:t>
            </a: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자유 생성 대신 제한된 선택 — 약한 모델의 이해력만 안전하게 활용</a:t>
            </a:r>
          </a:p>
        </p:txBody>
      </p:sp>
      <p:sp>
        <p:nvSpPr>
          <p:cNvPr id="8" name="s8"/>
          <p:cNvSpPr/>
          <p:nvPr/>
        </p:nvSpPr>
        <p:spPr>
          <a:xfrm>
            <a:off x="6196000" y="1550000"/>
            <a:ext cx="5296000" cy="520000"/>
          </a:xfrm>
          <a:prstGeom prst="rect">
            <a:avLst/>
          </a:prstGeom>
          <a:solidFill>
            <a:srgbClr val="2E5395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50" b="1" dirty="0">
                <a:solidFill>
                  <a:srgbClr val="FFFFFF"/>
                </a:solidFill>
                <a:latin typeface="Malgun Gothic"/>
                <a:ea typeface="Malgun Gothic"/>
              </a:rPr>
              <a:t>후보 D — 컴파일러 검증-교정 루프</a:t>
            </a:r>
          </a:p>
        </p:txBody>
      </p:sp>
      <p:sp>
        <p:nvSpPr>
          <p:cNvPr id="9" name="s9"/>
          <p:cNvSpPr/>
          <p:nvPr/>
        </p:nvSpPr>
        <p:spPr>
          <a:xfrm>
            <a:off x="6196000" y="2070000"/>
            <a:ext cx="5296000" cy="29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300" b="1" dirty="0">
                <a:solidFill>
                  <a:srgbClr val="2E5395"/>
                </a:solidFill>
                <a:latin typeface="Malgun Gothic"/>
                <a:ea typeface="Malgun Gothic"/>
              </a:rPr>
              <a:t>①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편집 결과를 임시 파일로 타입 검사(tsc)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2E5395"/>
                </a:solidFill>
                <a:latin typeface="Malgun Gothic"/>
                <a:ea typeface="Malgun Gothic"/>
              </a:rPr>
              <a:t>②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오류 진단을 근거로 1회 자동 교정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2E5395"/>
                </a:solidFill>
                <a:latin typeface="Malgun Gothic"/>
                <a:ea typeface="Malgun Gothic"/>
              </a:rPr>
              <a:t>③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실패하면 원본을 보존하며 안전하게 폴백</a:t>
            </a:r>
          </a:p>
          <a:p>
            <a:pPr algn="l">
              <a:spcBef>
                <a:spcPts val="800"/>
              </a:spcBef>
              <a:buNone/>
            </a:pPr>
            <a:r>
              <a:rPr lang="ko-KR" sz="1250" b="1" dirty="0">
                <a:solidFill>
                  <a:srgbClr val="C55A11"/>
                </a:solidFill>
                <a:latin typeface="Malgun Gothic"/>
                <a:ea typeface="Malgun Gothic"/>
              </a:rPr>
              <a:t>포인트:  </a:t>
            </a: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생성 결과를 컴파일러로 검증하는 닫힌 루프 — 구체적 기술 구성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5250000"/>
            <a:ext cx="10792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두 장치 모두 주 청구항(A+B)의 종속항으로 결합해 방어층을 형성</a:t>
            </a:r>
          </a:p>
        </p:txBody>
      </p:sp>
      <p:sp>
        <p:nvSpPr>
          <p:cNvPr id="11" name="s11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후보 E — 모델 비의존(오프라인) 응답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sLLM이 연결되어 있지 않아도 최소한의 가이드를 제공하는 구조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500000"/>
            <a:ext cx="10792000" cy="7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550" b="1" dirty="0">
                <a:solidFill>
                  <a:srgbClr val="FFFFFF"/>
                </a:solidFill>
                <a:latin typeface="Malgun Gothic"/>
                <a:ea typeface="Malgun Gothic"/>
              </a:rPr>
              <a:t>"모델이 꺼져 있어도 어시스턴트는 동작한다" — 장애가 아니라 정상 동작 모드</a:t>
            </a:r>
          </a:p>
        </p:txBody>
      </p:sp>
      <p:sp>
        <p:nvSpPr>
          <p:cNvPr id="7" name="s7"/>
          <p:cNvSpPr/>
          <p:nvPr/>
        </p:nvSpPr>
        <p:spPr>
          <a:xfrm>
            <a:off x="846000" y="2450000"/>
            <a:ext cx="2400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050" b="1" dirty="0">
                <a:solidFill>
                  <a:srgbClr val="8FAADC"/>
                </a:solidFill>
                <a:latin typeface="Malgun Gothic"/>
                <a:ea typeface="Malgun Gothic"/>
              </a:rPr>
              <a:t>STEP 1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헬스체크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LLM 가용성을 사전 판정</a:t>
            </a:r>
          </a:p>
        </p:txBody>
      </p:sp>
      <p:sp>
        <p:nvSpPr>
          <p:cNvPr id="8" name="s8"/>
          <p:cNvSpPr/>
          <p:nvPr/>
        </p:nvSpPr>
        <p:spPr>
          <a:xfrm>
            <a:off x="3266000" y="3020000"/>
            <a:ext cx="260000" cy="260000"/>
          </a:xfrm>
          <a:prstGeom prst="rightArrow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" name="s9"/>
          <p:cNvSpPr/>
          <p:nvPr/>
        </p:nvSpPr>
        <p:spPr>
          <a:xfrm>
            <a:off x="3546000" y="2450000"/>
            <a:ext cx="2400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050" b="1" dirty="0">
                <a:solidFill>
                  <a:srgbClr val="8FAADC"/>
                </a:solidFill>
                <a:latin typeface="Malgun Gothic"/>
                <a:ea typeface="Malgun Gothic"/>
              </a:rPr>
              <a:t>STEP 2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의도 분류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모델 없이 로컬 규칙으로</a:t>
            </a:r>
          </a:p>
        </p:txBody>
      </p:sp>
      <p:sp>
        <p:nvSpPr>
          <p:cNvPr id="10" name="s10"/>
          <p:cNvSpPr/>
          <p:nvPr/>
        </p:nvSpPr>
        <p:spPr>
          <a:xfrm>
            <a:off x="5966000" y="3020000"/>
            <a:ext cx="260000" cy="260000"/>
          </a:xfrm>
          <a:prstGeom prst="rightArrow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" name="s11"/>
          <p:cNvSpPr/>
          <p:nvPr/>
        </p:nvSpPr>
        <p:spPr>
          <a:xfrm>
            <a:off x="6246000" y="2450000"/>
            <a:ext cx="2400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050" b="1" dirty="0">
                <a:solidFill>
                  <a:srgbClr val="8FAADC"/>
                </a:solidFill>
                <a:latin typeface="Malgun Gothic"/>
                <a:ea typeface="Malgun Gothic"/>
              </a:rPr>
              <a:t>STEP 3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의미검색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로컬 지식문서(사용 가이드) 검색</a:t>
            </a:r>
          </a:p>
        </p:txBody>
      </p:sp>
      <p:sp>
        <p:nvSpPr>
          <p:cNvPr id="12" name="s12"/>
          <p:cNvSpPr/>
          <p:nvPr/>
        </p:nvSpPr>
        <p:spPr>
          <a:xfrm>
            <a:off x="8666000" y="3020000"/>
            <a:ext cx="260000" cy="260000"/>
          </a:xfrm>
          <a:prstGeom prst="rightArrow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3" name="s13"/>
          <p:cNvSpPr/>
          <p:nvPr/>
        </p:nvSpPr>
        <p:spPr>
          <a:xfrm>
            <a:off x="8946000" y="2450000"/>
            <a:ext cx="2400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050" b="1" dirty="0">
                <a:solidFill>
                  <a:srgbClr val="8FAADC"/>
                </a:solidFill>
                <a:latin typeface="Malgun Gothic"/>
                <a:ea typeface="Malgun Gothic"/>
              </a:rPr>
              <a:t>STEP 4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카드 렌더 + 확신 게이트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신뢰도 낮으면 폴백 안내</a:t>
            </a:r>
          </a:p>
        </p:txBody>
      </p:sp>
      <p:sp>
        <p:nvSpPr>
          <p:cNvPr id="14" name="s14"/>
          <p:cNvSpPr/>
          <p:nvPr/>
        </p:nvSpPr>
        <p:spPr>
          <a:xfrm>
            <a:off x="700000" y="4150000"/>
            <a:ext cx="10792000" cy="16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 marL="228600" indent="-228600">
              <a:buClr>
                <a:srgbClr val="2E5395"/>
              </a:buClr>
              <a:buFont typeface="Arial"/>
              <a:buChar char="•"/>
            </a:pP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미가용 판정 시 무의미한 모델 재시도를 선차단 — 데드엔드 없음</a:t>
            </a:r>
          </a:p>
          <a:p>
            <a:pPr algn="l" marL="228600" indent="-228600">
              <a:spcBef>
                <a:spcPts val="500"/>
              </a:spcBef>
              <a:buClr>
                <a:srgbClr val="2E5395"/>
              </a:buClr>
              <a:buFont typeface="Arial"/>
              <a:buChar char="•"/>
            </a:pP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온라인(하이브리드 편집) - 오프라인(지식응답) </a:t>
            </a: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무중단 전환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 — 주 발명의 종속항으로 결합 권장</a:t>
            </a:r>
          </a:p>
          <a:p>
            <a:pPr algn="l" marL="228600" indent="-228600">
              <a:spcBef>
                <a:spcPts val="500"/>
              </a:spcBef>
              <a:buClr>
                <a:srgbClr val="2E5395"/>
              </a:buClr>
              <a:buFont typeface="Arial"/>
              <a:buChar char="•"/>
            </a:pP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네트워크 0 : 실패 사례 포집도 로컬 저장만, 외부 반출 없음 (폐쇄망 안전 설계)</a:t>
            </a:r>
          </a:p>
        </p:txBody>
      </p:sp>
      <p:sp>
        <p:nvSpPr>
          <p:cNvPr id="15" name="s15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발명의 실체 — 작동 흐름 도식 (8장)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이어지는 8장의 도식은 파일·함수·라인 번호를 실제 저장소 코드에서 추출해 작성했습니다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500000"/>
            <a:ext cx="5296000" cy="10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00  도식 지도</a:t>
            </a:r>
          </a:p>
          <a:p>
            <a:pPr algn="l">
              <a:spcBef>
                <a:spcPts val="15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8장의 관계와 읽는 순서</a:t>
            </a:r>
          </a:p>
        </p:txBody>
      </p:sp>
      <p:sp>
        <p:nvSpPr>
          <p:cNvPr id="7" name="s7"/>
          <p:cNvSpPr/>
          <p:nvPr/>
        </p:nvSpPr>
        <p:spPr>
          <a:xfrm>
            <a:off x="6196000" y="1500000"/>
            <a:ext cx="5296000" cy="10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01  결정론 파이프라인</a:t>
            </a:r>
          </a:p>
          <a:p>
            <a:pPr algn="l">
              <a:spcBef>
                <a:spcPts val="15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8단계 전체 조감도 — 확률(sLLM)은 단 1칸</a:t>
            </a:r>
          </a:p>
        </p:txBody>
      </p:sp>
      <p:sp>
        <p:nvSpPr>
          <p:cNvPr id="8" name="s8"/>
          <p:cNvSpPr/>
          <p:nvPr/>
        </p:nvSpPr>
        <p:spPr>
          <a:xfrm>
            <a:off x="700000" y="2680000"/>
            <a:ext cx="5296000" cy="10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02  위치 탐색 확대경</a:t>
            </a:r>
          </a:p>
          <a:p>
            <a:pPr algn="l">
              <a:spcBef>
                <a:spcPts val="15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토큰 점수화·JSX 블록 스냅 (①·② 단계)</a:t>
            </a:r>
          </a:p>
        </p:txBody>
      </p:sp>
      <p:sp>
        <p:nvSpPr>
          <p:cNvPr id="9" name="s9"/>
          <p:cNvSpPr/>
          <p:nvPr/>
        </p:nvSpPr>
        <p:spPr>
          <a:xfrm>
            <a:off x="6196000" y="2680000"/>
            <a:ext cx="5296000" cy="10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03  계약 주입 확대경</a:t>
            </a:r>
          </a:p>
          <a:p>
            <a:pPr algn="l">
              <a:spcBef>
                <a:spcPts val="15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트리거 탐지 → 사용법 정답지 첨부 (③ 단계)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3860000"/>
            <a:ext cx="5296000" cy="10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04  게이트·컴파일러 검증</a:t>
            </a:r>
          </a:p>
          <a:p>
            <a:pPr algn="l">
              <a:spcBef>
                <a:spcPts val="15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거부 사유 6종 · 임시파일 TS 진단 · 1회 교정 (⑤·⑥)</a:t>
            </a:r>
          </a:p>
        </p:txBody>
      </p:sp>
      <p:sp>
        <p:nvSpPr>
          <p:cNvPr id="11" name="s11"/>
          <p:cNvSpPr/>
          <p:nvPr/>
        </p:nvSpPr>
        <p:spPr>
          <a:xfrm>
            <a:off x="6196000" y="3860000"/>
            <a:ext cx="5296000" cy="10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05  객관식 선택</a:t>
            </a:r>
          </a:p>
          <a:p>
            <a:pPr algn="l">
              <a:spcBef>
                <a:spcPts val="15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모호할 때만 sLLM에게 번호 질문 (후보 C)</a:t>
            </a:r>
          </a:p>
        </p:txBody>
      </p:sp>
      <p:sp>
        <p:nvSpPr>
          <p:cNvPr id="12" name="s12"/>
          <p:cNvSpPr/>
          <p:nvPr/>
        </p:nvSpPr>
        <p:spPr>
          <a:xfrm>
            <a:off x="700000" y="5040000"/>
            <a:ext cx="5296000" cy="10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06  계약 카드 생애주기</a:t>
            </a:r>
          </a:p>
          <a:p>
            <a:pPr algn="l">
              <a:spcBef>
                <a:spcPts val="15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카드 1장 = 지시·검증·제어의 공통 진실원 (후보 B 심화)</a:t>
            </a:r>
          </a:p>
        </p:txBody>
      </p:sp>
      <p:sp>
        <p:nvSpPr>
          <p:cNvPr id="13" name="s13"/>
          <p:cNvSpPr/>
          <p:nvPr/>
        </p:nvSpPr>
        <p:spPr>
          <a:xfrm>
            <a:off x="6196000" y="5040000"/>
            <a:ext cx="5296000" cy="10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07  오프라인 응답</a:t>
            </a:r>
          </a:p>
          <a:p>
            <a:pPr algn="l">
              <a:spcBef>
                <a:spcPts val="15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모델 없이 동작 + 로컬 실패 포집 (후보 E)</a:t>
            </a:r>
          </a:p>
        </p:txBody>
      </p:sp>
      <p:sp>
        <p:nvSpPr>
          <p:cNvPr id="14" name="s14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4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5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6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7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8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15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짚고 갈 것 — 요건과 실체는 다릅니다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앞의 5가지는 특허 "합격 기준"이 아니라, 기준을 충족하는지 심사받을 "재료(실체)"입니다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500000"/>
            <a:ext cx="5200000" cy="5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50" b="1" dirty="0">
                <a:solidFill>
                  <a:srgbClr val="FFFFFF"/>
                </a:solidFill>
                <a:latin typeface="Malgun Gothic"/>
                <a:ea typeface="Malgun Gothic"/>
              </a:rPr>
              <a:t>특허 여부를 가르는 법적 요건</a:t>
            </a:r>
          </a:p>
        </p:txBody>
      </p:sp>
      <p:sp>
        <p:nvSpPr>
          <p:cNvPr id="7" name="s7"/>
          <p:cNvSpPr/>
          <p:nvPr/>
        </p:nvSpPr>
        <p:spPr>
          <a:xfrm>
            <a:off x="700000" y="2050000"/>
            <a:ext cx="5200000" cy="69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8" name="s8"/>
          <p:cNvSpPr/>
          <p:nvPr/>
        </p:nvSpPr>
        <p:spPr>
          <a:xfrm>
            <a:off x="820000" y="2050000"/>
            <a:ext cx="1500000" cy="69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성립성</a:t>
            </a:r>
          </a:p>
        </p:txBody>
      </p:sp>
      <p:sp>
        <p:nvSpPr>
          <p:cNvPr id="9" name="s9"/>
          <p:cNvSpPr/>
          <p:nvPr/>
        </p:nvSpPr>
        <p:spPr>
          <a:xfrm>
            <a:off x="2350000" y="2140000"/>
            <a:ext cx="34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추상 아이디어가 아닌 기술적 수단인가</a:t>
            </a:r>
          </a:p>
        </p:txBody>
      </p:sp>
      <p:sp>
        <p:nvSpPr>
          <p:cNvPr id="10" name="s10"/>
          <p:cNvSpPr/>
          <p:nvPr/>
        </p:nvSpPr>
        <p:spPr>
          <a:xfrm>
            <a:off x="2350000" y="2390000"/>
            <a:ext cx="345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100" b="1" dirty="0">
                <a:solidFill>
                  <a:srgbClr val="2E7D32"/>
                </a:solidFill>
                <a:latin typeface="Malgun Gothic"/>
                <a:ea typeface="Malgun Gothic"/>
              </a:rPr>
              <a:t>✓  </a:t>
            </a:r>
            <a:r>
              <a:rPr lang="ko-KR" sz="1100" b="1" dirty="0">
                <a:solidFill>
                  <a:srgbClr val="2E7D32"/>
                </a:solidFill>
                <a:latin typeface="Malgun Gothic"/>
                <a:ea typeface="Malgun Gothic"/>
              </a:rPr>
              <a:t>5가지 모두 구체적 코드 → 유리</a:t>
            </a:r>
          </a:p>
        </p:txBody>
      </p:sp>
      <p:sp>
        <p:nvSpPr>
          <p:cNvPr id="11" name="s11"/>
          <p:cNvSpPr/>
          <p:nvPr/>
        </p:nvSpPr>
        <p:spPr>
          <a:xfrm>
            <a:off x="700000" y="2780000"/>
            <a:ext cx="5200000" cy="69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2" name="s12"/>
          <p:cNvSpPr/>
          <p:nvPr/>
        </p:nvSpPr>
        <p:spPr>
          <a:xfrm>
            <a:off x="820000" y="2780000"/>
            <a:ext cx="1500000" cy="69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산업상 이용가능성</a:t>
            </a:r>
          </a:p>
        </p:txBody>
      </p:sp>
      <p:sp>
        <p:nvSpPr>
          <p:cNvPr id="13" name="s13"/>
          <p:cNvSpPr/>
          <p:nvPr/>
        </p:nvSpPr>
        <p:spPr>
          <a:xfrm>
            <a:off x="2350000" y="2870000"/>
            <a:ext cx="34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실제 산업에 쓰이는가</a:t>
            </a:r>
          </a:p>
        </p:txBody>
      </p:sp>
      <p:sp>
        <p:nvSpPr>
          <p:cNvPr id="14" name="s14"/>
          <p:cNvSpPr/>
          <p:nvPr/>
        </p:nvSpPr>
        <p:spPr>
          <a:xfrm>
            <a:off x="2350000" y="3120000"/>
            <a:ext cx="345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100" b="1" dirty="0">
                <a:solidFill>
                  <a:srgbClr val="2E7D32"/>
                </a:solidFill>
                <a:latin typeface="Malgun Gothic"/>
                <a:ea typeface="Malgun Gothic"/>
              </a:rPr>
              <a:t>✓  </a:t>
            </a:r>
            <a:r>
              <a:rPr lang="ko-KR" sz="1100" b="1" dirty="0">
                <a:solidFill>
                  <a:srgbClr val="2E7D32"/>
                </a:solidFill>
                <a:latin typeface="Malgun Gothic"/>
                <a:ea typeface="Malgun Gothic"/>
              </a:rPr>
              <a:t>실제 동작 제품 → 충족</a:t>
            </a:r>
          </a:p>
        </p:txBody>
      </p:sp>
      <p:sp>
        <p:nvSpPr>
          <p:cNvPr id="15" name="s15"/>
          <p:cNvSpPr/>
          <p:nvPr/>
        </p:nvSpPr>
        <p:spPr>
          <a:xfrm>
            <a:off x="700000" y="3510000"/>
            <a:ext cx="5200000" cy="690000"/>
          </a:xfrm>
          <a:prstGeom prst="roundRect">
            <a:avLst/>
          </a:prstGeom>
          <a:solidFill>
            <a:srgbClr val="FBEDEC"/>
          </a:solidFill>
          <a:ln w="9525">
            <a:solidFill>
              <a:srgbClr val="D9E2F3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6" name="s16"/>
          <p:cNvSpPr/>
          <p:nvPr/>
        </p:nvSpPr>
        <p:spPr>
          <a:xfrm>
            <a:off x="820000" y="3510000"/>
            <a:ext cx="1500000" cy="69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신규성</a:t>
            </a:r>
          </a:p>
        </p:txBody>
      </p:sp>
      <p:sp>
        <p:nvSpPr>
          <p:cNvPr id="17" name="s17"/>
          <p:cNvSpPr/>
          <p:nvPr/>
        </p:nvSpPr>
        <p:spPr>
          <a:xfrm>
            <a:off x="2350000" y="3600000"/>
            <a:ext cx="34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세상에 없던 것인가</a:t>
            </a:r>
          </a:p>
        </p:txBody>
      </p:sp>
      <p:sp>
        <p:nvSpPr>
          <p:cNvPr id="18" name="s18"/>
          <p:cNvSpPr/>
          <p:nvPr/>
        </p:nvSpPr>
        <p:spPr>
          <a:xfrm>
            <a:off x="2350000" y="3850000"/>
            <a:ext cx="345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100" b="1" dirty="0">
                <a:solidFill>
                  <a:srgbClr val="B02B2B"/>
                </a:solidFill>
                <a:latin typeface="Malgun Gothic"/>
                <a:ea typeface="Malgun Gothic"/>
              </a:rPr>
              <a:t>!  </a:t>
            </a:r>
            <a:r>
              <a:rPr lang="ko-KR" sz="1100" b="1" dirty="0">
                <a:solidFill>
                  <a:srgbClr val="B02B2B"/>
                </a:solidFill>
                <a:latin typeface="Malgun Gothic"/>
                <a:ea typeface="Malgun Gothic"/>
              </a:rPr>
              <a:t>선행기술조사로만 판가름</a:t>
            </a:r>
          </a:p>
        </p:txBody>
      </p:sp>
      <p:sp>
        <p:nvSpPr>
          <p:cNvPr id="19" name="s19"/>
          <p:cNvSpPr/>
          <p:nvPr/>
        </p:nvSpPr>
        <p:spPr>
          <a:xfrm>
            <a:off x="700000" y="4240000"/>
            <a:ext cx="5200000" cy="690000"/>
          </a:xfrm>
          <a:prstGeom prst="roundRect">
            <a:avLst/>
          </a:prstGeom>
          <a:solidFill>
            <a:srgbClr val="FBEDEC"/>
          </a:solidFill>
          <a:ln w="9525">
            <a:solidFill>
              <a:srgbClr val="D9E2F3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0" name="s20"/>
          <p:cNvSpPr/>
          <p:nvPr/>
        </p:nvSpPr>
        <p:spPr>
          <a:xfrm>
            <a:off x="820000" y="4240000"/>
            <a:ext cx="1500000" cy="69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진보성</a:t>
            </a:r>
          </a:p>
        </p:txBody>
      </p:sp>
      <p:sp>
        <p:nvSpPr>
          <p:cNvPr id="21" name="s21"/>
          <p:cNvSpPr/>
          <p:nvPr/>
        </p:nvSpPr>
        <p:spPr>
          <a:xfrm>
            <a:off x="2350000" y="4330000"/>
            <a:ext cx="34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통상의 기술자가 쉽게 못 만드는가</a:t>
            </a:r>
          </a:p>
        </p:txBody>
      </p:sp>
      <p:sp>
        <p:nvSpPr>
          <p:cNvPr id="22" name="s22"/>
          <p:cNvSpPr/>
          <p:nvPr/>
        </p:nvSpPr>
        <p:spPr>
          <a:xfrm>
            <a:off x="2350000" y="4580000"/>
            <a:ext cx="345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100" b="1" dirty="0">
                <a:solidFill>
                  <a:srgbClr val="B02B2B"/>
                </a:solidFill>
                <a:latin typeface="Malgun Gothic"/>
                <a:ea typeface="Malgun Gothic"/>
              </a:rPr>
              <a:t>!  </a:t>
            </a:r>
            <a:r>
              <a:rPr lang="ko-KR" sz="1100" b="1" dirty="0">
                <a:solidFill>
                  <a:srgbClr val="B02B2B"/>
                </a:solidFill>
                <a:latin typeface="Malgun Gothic"/>
                <a:ea typeface="Malgun Gothic"/>
              </a:rPr>
              <a:t>여기가 진짜 승부처</a:t>
            </a:r>
          </a:p>
        </p:txBody>
      </p:sp>
      <p:sp>
        <p:nvSpPr>
          <p:cNvPr id="23" name="s23"/>
          <p:cNvSpPr/>
          <p:nvPr/>
        </p:nvSpPr>
        <p:spPr>
          <a:xfrm>
            <a:off x="6300000" y="1500000"/>
            <a:ext cx="5200000" cy="520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50" b="1" dirty="0">
                <a:solidFill>
                  <a:srgbClr val="FFFFFF"/>
                </a:solidFill>
                <a:latin typeface="Malgun Gothic"/>
                <a:ea typeface="Malgun Gothic"/>
              </a:rPr>
              <a:t>우리가 내미는 실체 (5가지 핵심 사상)</a:t>
            </a:r>
          </a:p>
        </p:txBody>
      </p:sp>
      <p:sp>
        <p:nvSpPr>
          <p:cNvPr id="24" name="s24"/>
          <p:cNvSpPr/>
          <p:nvPr/>
        </p:nvSpPr>
        <p:spPr>
          <a:xfrm>
            <a:off x="6300000" y="2050000"/>
            <a:ext cx="5200000" cy="69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5" name="s25"/>
          <p:cNvSpPr/>
          <p:nvPr/>
        </p:nvSpPr>
        <p:spPr>
          <a:xfrm>
            <a:off x="6300000" y="2140000"/>
            <a:ext cx="130000" cy="51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6" name="s26"/>
          <p:cNvSpPr/>
          <p:nvPr/>
        </p:nvSpPr>
        <p:spPr>
          <a:xfrm>
            <a:off x="6520000" y="2155000"/>
            <a:ext cx="49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00" b="1" dirty="0">
                <a:solidFill>
                  <a:srgbClr val="1F3864"/>
                </a:solidFill>
                <a:latin typeface="Malgun Gothic"/>
                <a:ea typeface="Malgun Gothic"/>
              </a:rPr>
              <a:t>① 결정론 파티셔닝 + ③ 계약 자동주입</a:t>
            </a:r>
          </a:p>
        </p:txBody>
      </p:sp>
      <p:sp>
        <p:nvSpPr>
          <p:cNvPr id="27" name="s27"/>
          <p:cNvSpPr/>
          <p:nvPr/>
        </p:nvSpPr>
        <p:spPr>
          <a:xfrm>
            <a:off x="6520000" y="2420000"/>
            <a:ext cx="49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강함 — 진보성 논거가 뚜렷 (주 청구항 축)</a:t>
            </a:r>
          </a:p>
        </p:txBody>
      </p:sp>
      <p:sp>
        <p:nvSpPr>
          <p:cNvPr id="28" name="s28"/>
          <p:cNvSpPr/>
          <p:nvPr/>
        </p:nvSpPr>
        <p:spPr>
          <a:xfrm>
            <a:off x="6300000" y="2780000"/>
            <a:ext cx="5200000" cy="69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9" name="s29"/>
          <p:cNvSpPr/>
          <p:nvPr/>
        </p:nvSpPr>
        <p:spPr>
          <a:xfrm>
            <a:off x="6300000" y="2870000"/>
            <a:ext cx="130000" cy="510000"/>
          </a:xfrm>
          <a:prstGeom prst="roundRect">
            <a:avLst/>
          </a:prstGeom>
          <a:solidFill>
            <a:srgbClr val="2E5395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" name="s30"/>
          <p:cNvSpPr/>
          <p:nvPr/>
        </p:nvSpPr>
        <p:spPr>
          <a:xfrm>
            <a:off x="6520000" y="2885000"/>
            <a:ext cx="49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00" b="1" dirty="0">
                <a:solidFill>
                  <a:srgbClr val="1F3864"/>
                </a:solidFill>
                <a:latin typeface="Malgun Gothic"/>
                <a:ea typeface="Malgun Gothic"/>
              </a:rPr>
              <a:t>④ 게이트·컴파일러 검증 · ⑤ 객관식 선택</a:t>
            </a:r>
          </a:p>
        </p:txBody>
      </p:sp>
      <p:sp>
        <p:nvSpPr>
          <p:cNvPr id="31" name="s31"/>
          <p:cNvSpPr/>
          <p:nvPr/>
        </p:nvSpPr>
        <p:spPr>
          <a:xfrm>
            <a:off x="6520000" y="3150000"/>
            <a:ext cx="49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중간 — 종속항으로 적합</a:t>
            </a:r>
          </a:p>
        </p:txBody>
      </p:sp>
      <p:sp>
        <p:nvSpPr>
          <p:cNvPr id="32" name="s32"/>
          <p:cNvSpPr/>
          <p:nvPr/>
        </p:nvSpPr>
        <p:spPr>
          <a:xfrm>
            <a:off x="6300000" y="3510000"/>
            <a:ext cx="5200000" cy="69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3" name="s33"/>
          <p:cNvSpPr/>
          <p:nvPr/>
        </p:nvSpPr>
        <p:spPr>
          <a:xfrm>
            <a:off x="6300000" y="3600000"/>
            <a:ext cx="130000" cy="510000"/>
          </a:xfrm>
          <a:prstGeom prst="roundRect">
            <a:avLst/>
          </a:prstGeom>
          <a:solidFill>
            <a:srgbClr val="595959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4" name="s34"/>
          <p:cNvSpPr/>
          <p:nvPr/>
        </p:nvSpPr>
        <p:spPr>
          <a:xfrm>
            <a:off x="6520000" y="3615000"/>
            <a:ext cx="49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00" b="1" dirty="0">
                <a:solidFill>
                  <a:srgbClr val="1F3864"/>
                </a:solidFill>
                <a:latin typeface="Malgun Gothic"/>
                <a:ea typeface="Malgun Gothic"/>
              </a:rPr>
              <a:t>② 분해·위치 결정</a:t>
            </a:r>
          </a:p>
        </p:txBody>
      </p:sp>
      <p:sp>
        <p:nvSpPr>
          <p:cNvPr id="35" name="s35"/>
          <p:cNvSpPr/>
          <p:nvPr/>
        </p:nvSpPr>
        <p:spPr>
          <a:xfrm>
            <a:off x="6520000" y="3880000"/>
            <a:ext cx="49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보강 — ①의 하위 구성에 가까움</a:t>
            </a:r>
          </a:p>
        </p:txBody>
      </p:sp>
      <p:sp>
        <p:nvSpPr>
          <p:cNvPr id="36" name="s36"/>
          <p:cNvSpPr/>
          <p:nvPr/>
        </p:nvSpPr>
        <p:spPr>
          <a:xfrm>
            <a:off x="6300000" y="4270000"/>
            <a:ext cx="5200000" cy="490000"/>
          </a:xfrm>
          <a:prstGeom prst="roundRect">
            <a:avLst/>
          </a:prstGeom>
          <a:solidFill>
            <a:srgbClr val="FDF0E7"/>
          </a:solidFill>
          <a:ln w="9525">
            <a:solidFill>
              <a:srgbClr val="C55A11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100" b="1" dirty="0">
                <a:solidFill>
                  <a:srgbClr val="C55A11"/>
                </a:solidFill>
                <a:latin typeface="Malgun Gothic"/>
                <a:ea typeface="Malgun Gothic"/>
              </a:rPr>
              <a:t>핵심:  </a:t>
            </a: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이 재료로 "성립성·진보성을 이렇게 충족한다"를 주장하는 것</a:t>
            </a:r>
          </a:p>
        </p:txBody>
      </p:sp>
      <p:sp>
        <p:nvSpPr>
          <p:cNvPr id="37" name="s37"/>
          <p:cNvSpPr/>
          <p:nvPr/>
        </p:nvSpPr>
        <p:spPr>
          <a:xfrm>
            <a:off x="700000" y="5150000"/>
            <a:ext cx="10800000" cy="85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500" b="1" dirty="0">
                <a:solidFill>
                  <a:srgbClr val="8FAADC"/>
                </a:solidFill>
                <a:latin typeface="Malgun Gothic"/>
                <a:ea typeface="Malgun Gothic"/>
              </a:rPr>
              <a:t>결론:  </a:t>
            </a:r>
            <a:r>
              <a:rPr lang="ko-KR" sz="1500" b="1" dirty="0">
                <a:solidFill>
                  <a:srgbClr val="FFFFFF"/>
                </a:solidFill>
                <a:latin typeface="Malgun Gothic"/>
                <a:ea typeface="Malgun Gothic"/>
              </a:rPr>
              <a:t>5가지는 "특허를 받게 해줄 무기"이지 "합격 기준"이 아니다.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300" dirty="0">
                <a:solidFill>
                  <a:srgbClr val="D9E2F3"/>
                </a:solidFill>
                <a:latin typeface="Malgun Gothic"/>
                <a:ea typeface="Malgun Gothic"/>
              </a:rPr>
              <a:t>진짜 관문은 선행기술조사를 통과한 진보성 — 변리사님만 확정할 수 있습니다.</a:t>
            </a:r>
          </a:p>
        </p:txBody>
      </p:sp>
      <p:sp>
        <p:nvSpPr>
          <p:cNvPr id="38" name="s38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16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출원 전략 제안 — 청구항 구조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주 청구항 하나에 종속항 4개로 방어층을 쌓는 구성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1700000" y="1600000"/>
            <a:ext cx="8792000" cy="13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주 청구항 = A + B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250" dirty="0">
                <a:solidFill>
                  <a:srgbClr val="D9E2F3"/>
                </a:solidFill>
                <a:latin typeface="Malgun Gothic"/>
                <a:ea typeface="Malgun Gothic"/>
              </a:rPr>
              <a:t>약한 로컬 LLM 기반 코드 편집 시스템에서, 결정론적 구조 분해와 트리거 기반 계약 주입으로 편집 무결성을 보장하는 방법</a:t>
            </a:r>
          </a:p>
        </p:txBody>
      </p:sp>
      <p:sp>
        <p:nvSpPr>
          <p:cNvPr id="7" name="s7"/>
          <p:cNvSpPr/>
          <p:nvPr/>
        </p:nvSpPr>
        <p:spPr>
          <a:xfrm>
            <a:off x="5966000" y="3000000"/>
            <a:ext cx="260000" cy="350000"/>
          </a:xfrm>
          <a:prstGeom prst="downArrow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8" name="s8"/>
          <p:cNvSpPr/>
          <p:nvPr/>
        </p:nvSpPr>
        <p:spPr>
          <a:xfrm>
            <a:off x="700000" y="3450000"/>
            <a:ext cx="2548000" cy="11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종속항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C  객관식 선택</a:t>
            </a:r>
          </a:p>
        </p:txBody>
      </p:sp>
      <p:sp>
        <p:nvSpPr>
          <p:cNvPr id="9" name="s9"/>
          <p:cNvSpPr/>
          <p:nvPr/>
        </p:nvSpPr>
        <p:spPr>
          <a:xfrm>
            <a:off x="3448000" y="3450000"/>
            <a:ext cx="2548000" cy="11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종속항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D  검증-교정 루프</a:t>
            </a:r>
          </a:p>
        </p:txBody>
      </p:sp>
      <p:sp>
        <p:nvSpPr>
          <p:cNvPr id="10" name="s10"/>
          <p:cNvSpPr/>
          <p:nvPr/>
        </p:nvSpPr>
        <p:spPr>
          <a:xfrm>
            <a:off x="6196000" y="3450000"/>
            <a:ext cx="2548000" cy="11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종속항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E  폐쇄망 실패 포집</a:t>
            </a:r>
          </a:p>
        </p:txBody>
      </p:sp>
      <p:sp>
        <p:nvSpPr>
          <p:cNvPr id="11" name="s11"/>
          <p:cNvSpPr/>
          <p:nvPr/>
        </p:nvSpPr>
        <p:spPr>
          <a:xfrm>
            <a:off x="8944000" y="3450000"/>
            <a:ext cx="2548000" cy="11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종속항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오프라인 무중단 응답</a:t>
            </a:r>
          </a:p>
        </p:txBody>
      </p:sp>
      <p:sp>
        <p:nvSpPr>
          <p:cNvPr id="12" name="s12"/>
          <p:cNvSpPr/>
          <p:nvPr/>
        </p:nvSpPr>
        <p:spPr>
          <a:xfrm>
            <a:off x="700000" y="4950000"/>
            <a:ext cx="10792000" cy="95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명세서 일관 강조: 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"클라우드 대형 모델 없이 · 폐쇄망에서 · 소형 모델로" — 이 제약 조합이 Copilot · Cursor 와 갈라지는 핵심</a:t>
            </a:r>
          </a:p>
        </p:txBody>
      </p:sp>
      <p:sp>
        <p:nvSpPr>
          <p:cNvPr id="13" name="s13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17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리스크와 확인 요청 사항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저희가 인지한 리스크와, 변리사님께 여쭤보고 싶은 것들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550000"/>
            <a:ext cx="5200000" cy="4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사전 인지 리스크</a:t>
            </a:r>
          </a:p>
          <a:p>
            <a:pPr algn="l" marL="228600" indent="-228600">
              <a:spcBef>
                <a:spcPts val="600"/>
              </a:spcBef>
              <a:buClr>
                <a:srgbClr val="2E5395"/>
              </a:buClr>
              <a:buFont typeface="Arial"/>
              <a:buChar char="•"/>
            </a:pPr>
            <a:r>
              <a:rPr lang="ko-KR" sz="1300" b="1" dirty="0">
                <a:solidFill>
                  <a:srgbClr val="B02B2B"/>
                </a:solidFill>
                <a:latin typeface="Malgun Gothic"/>
                <a:ea typeface="Malgun Gothic"/>
              </a:rPr>
              <a:t>선행기술: 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LLM 코드수정 · RAG · AST 편집은 각각 공지 — 결합의 구체 구성으로 진보성 확보 필요</a:t>
            </a:r>
          </a:p>
          <a:p>
            <a:pPr algn="l" marL="228600" indent="-228600">
              <a:spcBef>
                <a:spcPts val="600"/>
              </a:spcBef>
              <a:buClr>
                <a:srgbClr val="2E5395"/>
              </a:buClr>
              <a:buFont typeface="Arial"/>
              <a:buChar char="•"/>
            </a:pPr>
            <a:r>
              <a:rPr lang="ko-KR" sz="1300" b="1" dirty="0">
                <a:solidFill>
                  <a:srgbClr val="B02B2B"/>
                </a:solidFill>
                <a:latin typeface="Malgun Gothic"/>
                <a:ea typeface="Malgun Gothic"/>
              </a:rPr>
              <a:t>신규성 상실: 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코드 · 문서 공개 이력 점검 필요 (공지예외 12개월)</a:t>
            </a:r>
          </a:p>
          <a:p>
            <a:pPr algn="l" marL="228600" indent="-228600">
              <a:spcBef>
                <a:spcPts val="600"/>
              </a:spcBef>
              <a:buClr>
                <a:srgbClr val="2E5395"/>
              </a:buClr>
              <a:buFont typeface="Arial"/>
              <a:buChar char="•"/>
            </a:pPr>
            <a:r>
              <a:rPr lang="ko-KR" sz="1300" b="1" dirty="0">
                <a:solidFill>
                  <a:srgbClr val="B02B2B"/>
                </a:solidFill>
                <a:latin typeface="Malgun Gothic"/>
                <a:ea typeface="Malgun Gothic"/>
              </a:rPr>
              <a:t>추상성 거절: 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청구항을 구체적 처리 단계로 기재해야 함</a:t>
            </a:r>
          </a:p>
        </p:txBody>
      </p:sp>
      <p:sp>
        <p:nvSpPr>
          <p:cNvPr id="7" name="s7"/>
          <p:cNvSpPr/>
          <p:nvPr/>
        </p:nvSpPr>
        <p:spPr>
          <a:xfrm>
            <a:off x="6100000" y="1550000"/>
            <a:ext cx="5392000" cy="4550000"/>
          </a:xfrm>
          <a:prstGeom prst="roundRect">
            <a:avLst/>
          </a:prstGeom>
          <a:solidFill>
            <a:srgbClr val="FDF0E7"/>
          </a:solidFill>
          <a:ln w="9525">
            <a:solidFill>
              <a:srgbClr val="C55A11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변리사님께 확인드릴 사항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1) 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선행기술조사 범위 · 기간 · 비용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2) 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공개 이력에 따른 공지예외 적용 가능성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3) 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청구항 구체화 수준 — 처리 단계를 어디까지 기재할지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4) 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해외 출원(PCT) 병행 필요성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5) 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출원 일정과 준비해야 할 서류</a:t>
            </a:r>
          </a:p>
        </p:txBody>
      </p:sp>
      <p:sp>
        <p:nvSpPr>
          <p:cNvPr id="8" name="s8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18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다음 단계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오늘 논의 이후 진행할 절차 제안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846000" y="1800000"/>
            <a:ext cx="2400000" cy="16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050" b="1" dirty="0">
                <a:solidFill>
                  <a:srgbClr val="8FAADC"/>
                </a:solidFill>
                <a:latin typeface="Malgun Gothic"/>
                <a:ea typeface="Malgun Gothic"/>
              </a:rPr>
              <a:t>1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핵심 메커니즘 확정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A+B 를 주 청구항 축으로</a:t>
            </a:r>
          </a:p>
        </p:txBody>
      </p:sp>
      <p:sp>
        <p:nvSpPr>
          <p:cNvPr id="7" name="s7"/>
          <p:cNvSpPr/>
          <p:nvPr/>
        </p:nvSpPr>
        <p:spPr>
          <a:xfrm>
            <a:off x="3266000" y="2470000"/>
            <a:ext cx="260000" cy="260000"/>
          </a:xfrm>
          <a:prstGeom prst="rightArrow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8" name="s8"/>
          <p:cNvSpPr/>
          <p:nvPr/>
        </p:nvSpPr>
        <p:spPr>
          <a:xfrm>
            <a:off x="3546000" y="1800000"/>
            <a:ext cx="2400000" cy="16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050" b="1" dirty="0">
                <a:solidFill>
                  <a:srgbClr val="8FAADC"/>
                </a:solidFill>
                <a:latin typeface="Malgun Gothic"/>
                <a:ea typeface="Malgun Gothic"/>
              </a:rPr>
              <a:t>2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기술 요지서 작성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소스 코드 · 처리 흐름도 근거</a:t>
            </a:r>
          </a:p>
        </p:txBody>
      </p:sp>
      <p:sp>
        <p:nvSpPr>
          <p:cNvPr id="9" name="s9"/>
          <p:cNvSpPr/>
          <p:nvPr/>
        </p:nvSpPr>
        <p:spPr>
          <a:xfrm>
            <a:off x="5966000" y="2470000"/>
            <a:ext cx="260000" cy="260000"/>
          </a:xfrm>
          <a:prstGeom prst="rightArrow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" name="s10"/>
          <p:cNvSpPr/>
          <p:nvPr/>
        </p:nvSpPr>
        <p:spPr>
          <a:xfrm>
            <a:off x="6246000" y="1800000"/>
            <a:ext cx="2400000" cy="16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050" b="1" dirty="0">
                <a:solidFill>
                  <a:srgbClr val="8FAADC"/>
                </a:solidFill>
                <a:latin typeface="Malgun Gothic"/>
                <a:ea typeface="Malgun Gothic"/>
              </a:rPr>
              <a:t>3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선행기술조사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청구범위 설계 병행</a:t>
            </a:r>
          </a:p>
        </p:txBody>
      </p:sp>
      <p:sp>
        <p:nvSpPr>
          <p:cNvPr id="11" name="s11"/>
          <p:cNvSpPr/>
          <p:nvPr/>
        </p:nvSpPr>
        <p:spPr>
          <a:xfrm>
            <a:off x="8666000" y="2470000"/>
            <a:ext cx="260000" cy="260000"/>
          </a:xfrm>
          <a:prstGeom prst="rightArrow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2" name="s12"/>
          <p:cNvSpPr/>
          <p:nvPr/>
        </p:nvSpPr>
        <p:spPr>
          <a:xfrm>
            <a:off x="8946000" y="1800000"/>
            <a:ext cx="2400000" cy="1600000"/>
          </a:xfrm>
          <a:prstGeom prst="roundRect">
            <a:avLst/>
          </a:prstGeom>
          <a:solidFill>
            <a:srgbClr val="FDF0E7"/>
          </a:solidFill>
          <a:ln w="9525">
            <a:solidFill>
              <a:srgbClr val="C55A11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050" b="1" dirty="0">
                <a:solidFill>
                  <a:srgbClr val="C55A11"/>
                </a:solidFill>
                <a:latin typeface="Malgun Gothic"/>
                <a:ea typeface="Malgun Gothic"/>
              </a:rPr>
              <a:t>4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출원</a:t>
            </a:r>
          </a:p>
          <a:p>
            <a:pPr algn="ctr">
              <a:spcBef>
                <a:spcPts val="15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필요 시 공지예외 주장 병행</a:t>
            </a:r>
          </a:p>
        </p:txBody>
      </p:sp>
      <p:sp>
        <p:nvSpPr>
          <p:cNvPr id="13" name="s13"/>
          <p:cNvSpPr/>
          <p:nvPr/>
        </p:nvSpPr>
        <p:spPr>
          <a:xfrm>
            <a:off x="700000" y="3900000"/>
            <a:ext cx="10792000" cy="800000"/>
          </a:xfrm>
          <a:prstGeom prst="roundRect">
            <a:avLst/>
          </a:prstGeom>
          <a:solidFill>
            <a:srgbClr val="EAF4EB"/>
          </a:solidFill>
          <a:ln w="9525">
            <a:solidFill>
              <a:srgbClr val="2E7D32"/>
            </a:solidFill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400" b="1" dirty="0">
                <a:solidFill>
                  <a:srgbClr val="2E7D32"/>
                </a:solidFill>
                <a:latin typeface="Malgun Gothic"/>
                <a:ea typeface="Malgun Gothic"/>
              </a:rPr>
              <a:t>모든 메커니즘은 실제 구현 · 자동 테스트 완료 — 명세서 실시예로 즉시 뒷받침 가능합니다</a:t>
            </a:r>
          </a:p>
        </p:txBody>
      </p:sp>
      <p:sp>
        <p:nvSpPr>
          <p:cNvPr id="14" name="s14"/>
          <p:cNvSpPr/>
          <p:nvPr/>
        </p:nvSpPr>
        <p:spPr>
          <a:xfrm>
            <a:off x="700000" y="5100000"/>
            <a:ext cx="10792000" cy="8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2400" b="1" dirty="0">
                <a:solidFill>
                  <a:srgbClr val="1F3864"/>
                </a:solidFill>
                <a:latin typeface="Malgun Gothic"/>
                <a:ea typeface="Malgun Gothic"/>
              </a:rPr>
              <a:t>감사합니다</a:t>
            </a:r>
          </a:p>
        </p:txBody>
      </p:sp>
      <p:sp>
        <p:nvSpPr>
          <p:cNvPr id="15" name="s15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iom">
  <a:themeElements>
    <a:clrScheme name="Axiom">
      <a:dk1>
        <a:sysClr val="windowText" lastClr="000000"/>
      </a:dk1>
      <a:lt1>
        <a:sysClr val="window" lastClr="FFFFFF"/>
      </a:lt1>
      <a:dk2>
        <a:srgbClr val="1F3864"/>
      </a:dk2>
      <a:lt2>
        <a:srgbClr val="F2F6FC"/>
      </a:lt2>
      <a:accent1>
        <a:srgbClr val="2E5395"/>
      </a:accent1>
      <a:accent2>
        <a:srgbClr val="C55A11"/>
      </a:accent2>
      <a:accent3>
        <a:srgbClr val="8FAADC"/>
      </a:accent3>
      <a:accent4>
        <a:srgbClr val="2E7D32"/>
      </a:accent4>
      <a:accent5>
        <a:srgbClr val="B02B2B"/>
      </a:accent5>
      <a:accent6>
        <a:srgbClr val="595959"/>
      </a:accent6>
      <a:hlink>
        <a:srgbClr val="0563C1"/>
      </a:hlink>
      <a:folHlink>
        <a:srgbClr val="954F72"/>
      </a:folHlink>
    </a:clrScheme>
    <a:fontScheme name="Axiom">
      <a:majorFont>
        <a:latin typeface="Malgun Gothic"/>
        <a:ea typeface="Malgun Gothic"/>
        <a:cs typeface=""/>
      </a:majorFont>
      <a:minorFont>
        <a:latin typeface="Malgun Gothic"/>
        <a:ea typeface="Malgun 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tint val="90000"/>
          </a:schemeClr>
        </a:solidFill>
      </a:bgFillStyleLst>
    </a:fmtScheme>
  </a:themeElements>
</a:theme>
</file>