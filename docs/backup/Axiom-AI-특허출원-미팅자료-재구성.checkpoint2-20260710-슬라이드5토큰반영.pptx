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5" r:id="rId2"/>
    <p:sldId id="289" r:id="rId3"/>
    <p:sldId id="302" r:id="rId4"/>
    <p:sldId id="293" r:id="rId5"/>
    <p:sldId id="297" r:id="rId6"/>
    <p:sldId id="305" r:id="rId7"/>
    <p:sldId id="311" r:id="rId8"/>
    <p:sldId id="312" r:id="rId9"/>
    <p:sldId id="314" r:id="rId10"/>
    <p:sldId id="316" r:id="rId11"/>
    <p:sldId id="318" r:id="rId12"/>
    <p:sldId id="321" r:id="rId13"/>
    <p:sldId id="268" r:id="rId14"/>
    <p:sldId id="269" r:id="rId15"/>
    <p:sldId id="322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324" r:id="rId25"/>
    <p:sldId id="328" r:id="rId26"/>
    <p:sldId id="332" r:id="rId27"/>
    <p:sldId id="333" r:id="rId28"/>
    <p:sldId id="339" r:id="rId29"/>
    <p:sldId id="344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7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4" name="s4"/>
          <p:cNvSpPr/>
          <p:nvPr/>
        </p:nvSpPr>
        <p:spPr>
          <a:xfrm>
            <a:off x="1000000" y="2340000"/>
            <a:ext cx="10192000" cy="95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4000" b="1" dirty="0" err="1">
                <a:solidFill>
                  <a:srgbClr val="FFFFFF"/>
                </a:solidFill>
                <a:latin typeface="Malgun Gothic"/>
                <a:ea typeface="Malgun Gothic"/>
              </a:rPr>
              <a:t>Axiom</a:t>
            </a:r>
            <a:r>
              <a:rPr lang="ko-KR" sz="4000" b="1" dirty="0">
                <a:solidFill>
                  <a:srgbClr val="FFFFFF"/>
                </a:solidFill>
                <a:latin typeface="Malgun Gothic"/>
                <a:ea typeface="Malgun Gothic"/>
              </a:rPr>
              <a:t> AI 상담 자료</a:t>
            </a:r>
          </a:p>
        </p:txBody>
      </p:sp>
      <p:sp>
        <p:nvSpPr>
          <p:cNvPr id="5" name="s5"/>
          <p:cNvSpPr/>
          <p:nvPr/>
        </p:nvSpPr>
        <p:spPr>
          <a:xfrm>
            <a:off x="5496000" y="3480000"/>
            <a:ext cx="1200000" cy="50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1000000" y="3680000"/>
            <a:ext cx="10192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700" dirty="0">
                <a:solidFill>
                  <a:srgbClr val="D9E2F3"/>
                </a:solidFill>
                <a:latin typeface="Malgun Gothic"/>
                <a:ea typeface="Malgun Gothic"/>
              </a:rPr>
              <a:t>인터넷이 차단된 보안망 안에서, 작은 AI로 코드를 안전하게 고치는 기술</a:t>
            </a:r>
          </a:p>
        </p:txBody>
      </p:sp>
      <p:sp>
        <p:nvSpPr>
          <p:cNvPr id="7" name="s7"/>
          <p:cNvSpPr/>
          <p:nvPr/>
        </p:nvSpPr>
        <p:spPr>
          <a:xfrm>
            <a:off x="1000000" y="5700000"/>
            <a:ext cx="10192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dirty="0">
                <a:solidFill>
                  <a:srgbClr val="8FAADC"/>
                </a:solidFill>
                <a:latin typeface="Malgun Gothic"/>
                <a:ea typeface="Malgun Gothic"/>
              </a:rPr>
              <a:t>2026. 07   |   VSCode 확장 axiom-ai</a:t>
            </a:r>
          </a:p>
        </p:txBody>
      </p:sp>
      <p:pic>
        <p:nvPicPr>
          <p:cNvPr id="8" name="Graphic 8" descr="AI hero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4200" y="685800"/>
            <a:ext cx="8636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89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오늘 드릴 말씀은 세 가지입니다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무엇을 만들었나</a:t>
            </a:r>
            <a:r>
              <a:rPr lang="en-US" alt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(AI </a:t>
            </a:r>
            <a:r>
              <a:rPr lang="ko-KR" altLang="en-US" sz="1700" b="1" dirty="0">
                <a:solidFill>
                  <a:srgbClr val="1F3864"/>
                </a:solidFill>
                <a:latin typeface="Malgun Gothic"/>
                <a:ea typeface="Malgun Gothic"/>
              </a:rPr>
              <a:t>코드 어시스턴트</a:t>
            </a:r>
            <a:r>
              <a:rPr lang="en-US" alt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)</a:t>
            </a:r>
            <a:endParaRPr lang="ko-KR" sz="1700" b="1" dirty="0">
              <a:solidFill>
                <a:srgbClr val="1F3864"/>
              </a:solidFill>
              <a:latin typeface="Malgun Gothic"/>
              <a:ea typeface="Malgun Gothic"/>
            </a:endParaRP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은행·공공기관처럼 인터넷이 막힌 곳에서 쓰는 AI 코딩 도우미 — 실제로 완성되어 돌아갑니다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20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무엇이 새로운가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AI에게 일을 통째로 맡기지 않고 프로그램</a:t>
            </a:r>
            <a:r>
              <a:rPr lang="en-US" alt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(Axiom)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이 관리·감독하는 방식 — 새롭다고 생각하는 지점 5가지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7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무엇을 여쭙고 싶은가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이 방식이 특허가 될 수 있는지, 된다면 어떤 범위로 출원하는 것이 좋은지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627CE41-0B1B-4229-B0E8-8D4CCCC66197}"/>
              </a:ext>
            </a:extLst>
          </p:cNvPr>
          <p:cNvSpPr/>
          <p:nvPr/>
        </p:nvSpPr>
        <p:spPr>
          <a:xfrm>
            <a:off x="952500" y="2019300"/>
            <a:ext cx="660400" cy="660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1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96AC770-87E0-433C-B7F4-070A5EA17D4D}"/>
              </a:ext>
            </a:extLst>
          </p:cNvPr>
          <p:cNvSpPr/>
          <p:nvPr/>
        </p:nvSpPr>
        <p:spPr>
          <a:xfrm>
            <a:off x="952500" y="3568700"/>
            <a:ext cx="660400" cy="660400"/>
          </a:xfrm>
          <a:prstGeom prst="roundRect">
            <a:avLst/>
          </a:prstGeom>
          <a:solidFill>
            <a:srgbClr val="C55A11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2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04C6F10-667F-4AC7-ABF1-E18BB93193AD}"/>
              </a:ext>
            </a:extLst>
          </p:cNvPr>
          <p:cNvSpPr/>
          <p:nvPr/>
        </p:nvSpPr>
        <p:spPr>
          <a:xfrm>
            <a:off x="952500" y="5118100"/>
            <a:ext cx="660400" cy="660400"/>
          </a:xfrm>
          <a:prstGeom prst="roundRect">
            <a:avLst/>
          </a:prstGeom>
          <a:solidFill>
            <a:srgbClr val="2E7D32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3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pic>
        <p:nvPicPr>
          <p:cNvPr id="13" name="Graphic 13" descr="AI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9100" y="2070100"/>
            <a:ext cx="584200" cy="584200"/>
          </a:xfrm>
          <a:prstGeom prst="rect">
            <a:avLst/>
          </a:prstGeom>
        </p:spPr>
      </p:pic>
      <p:pic>
        <p:nvPicPr>
          <p:cNvPr id="14" name="Graphic 14" descr="Lightbulb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100" y="3619500"/>
            <a:ext cx="584200" cy="584200"/>
          </a:xfrm>
          <a:prstGeom prst="rect">
            <a:avLst/>
          </a:prstGeom>
        </p:spPr>
      </p:pic>
      <p:pic>
        <p:nvPicPr>
          <p:cNvPr id="15" name="Graphic 15" descr="Question mark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9100" y="5168900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28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저희가 만든 것 — Axiom AI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코드 편집기(VSCode) 안에서, 채팅으로 일을 시키는 AI 도우미입니다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5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143000" tIns="76200" rIns="762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채팅으로 말하면, 코드를 대신 고쳐 줍니다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예: "직원 목록 화면에 검색 버튼 하나 추가해줘" → 파일에서 고칠 곳을 찾아 코드를 수정하고, 결과를 검사한 뒤 반영합니다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600000"/>
            <a:ext cx="3000000" cy="15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660400" rIns="108000" bIns="46800" anchor="t"/>
          <a:lstStyle/>
          <a:p>
            <a:pPr algn="ctr">
              <a:buNone/>
            </a:pPr>
            <a:r>
              <a:rPr lang="ko-KR" sz="1400" b="1" dirty="0">
                <a:solidFill>
                  <a:srgbClr val="1F3864"/>
                </a:solidFill>
                <a:latin typeface="Malgun Gothic"/>
                <a:ea typeface="Malgun Gothic"/>
              </a:rPr>
              <a:t>개발자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채팅으로 지시</a:t>
            </a:r>
          </a:p>
        </p:txBody>
      </p:sp>
      <p:sp>
        <p:nvSpPr>
          <p:cNvPr id="8" name="s8"/>
          <p:cNvSpPr/>
          <p:nvPr/>
        </p:nvSpPr>
        <p:spPr>
          <a:xfrm>
            <a:off x="3750000" y="3600000"/>
            <a:ext cx="4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20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s9"/>
          <p:cNvSpPr/>
          <p:nvPr/>
        </p:nvSpPr>
        <p:spPr>
          <a:xfrm>
            <a:off x="4200000" y="3600000"/>
            <a:ext cx="3800000" cy="15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660400" rIns="108000" bIns="46800" anchor="t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Axiom AI  (본 발명)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100" dirty="0">
                <a:solidFill>
                  <a:srgbClr val="D9E2F3"/>
                </a:solidFill>
                <a:latin typeface="Malgun Gothic"/>
                <a:ea typeface="Malgun Gothic"/>
              </a:rPr>
              <a:t>관리·감독 — 위치 결정 · 매뉴얼 제공 · 검수</a:t>
            </a:r>
          </a:p>
        </p:txBody>
      </p:sp>
      <p:sp>
        <p:nvSpPr>
          <p:cNvPr id="10" name="s10"/>
          <p:cNvSpPr/>
          <p:nvPr/>
        </p:nvSpPr>
        <p:spPr>
          <a:xfrm>
            <a:off x="8050000" y="3600000"/>
            <a:ext cx="4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20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1" name="s11"/>
          <p:cNvSpPr/>
          <p:nvPr/>
        </p:nvSpPr>
        <p:spPr>
          <a:xfrm>
            <a:off x="8500000" y="3600000"/>
            <a:ext cx="2992000" cy="15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660400" rIns="108000" bIns="46800" anchor="t"/>
          <a:lstStyle/>
          <a:p>
            <a:pPr algn="ctr">
              <a:buNone/>
            </a:pPr>
            <a:r>
              <a:rPr lang="ko-KR" sz="1400" b="1" dirty="0">
                <a:solidFill>
                  <a:srgbClr val="1F3864"/>
                </a:solidFill>
                <a:latin typeface="Malgun Gothic"/>
                <a:ea typeface="Malgun Gothic"/>
              </a:rPr>
              <a:t>사내 작은 AI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코드 조각만 작성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5500000"/>
            <a:ext cx="10792000" cy="75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현재 상태   </a:t>
            </a:r>
            <a:r>
              <a:rPr lang="ko-KR" sz="1400" dirty="0">
                <a:solidFill>
                  <a:srgbClr val="FFFFFF"/>
                </a:solidFill>
                <a:latin typeface="Malgun Gothic"/>
                <a:ea typeface="Malgun Gothic"/>
              </a:rPr>
              <a:t>전 기능 실제 구현 완료 — 자동 테스트 220건 이상, 사내 AI 모델로 동작 검증</a:t>
            </a:r>
          </a:p>
        </p:txBody>
      </p:sp>
      <p:sp>
        <p:nvSpPr>
          <p:cNvPr id="13" name="s13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3</a:t>
            </a:r>
          </a:p>
        </p:txBody>
      </p:sp>
      <p:pic>
        <p:nvPicPr>
          <p:cNvPr id="14" name="Graphic 14" descr="cha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146300"/>
            <a:ext cx="558800" cy="558800"/>
          </a:xfrm>
          <a:prstGeom prst="rect">
            <a:avLst/>
          </a:prstGeom>
        </p:spPr>
      </p:pic>
      <p:pic>
        <p:nvPicPr>
          <p:cNvPr id="15" name="Graphic 15" descr="develop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43100" y="3771900"/>
            <a:ext cx="508000" cy="508000"/>
          </a:xfrm>
          <a:prstGeom prst="rect">
            <a:avLst/>
          </a:prstGeom>
        </p:spPr>
      </p:pic>
      <p:pic>
        <p:nvPicPr>
          <p:cNvPr id="16" name="Graphic 16" descr="A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3771900"/>
            <a:ext cx="508000" cy="508000"/>
          </a:xfrm>
          <a:prstGeom prst="rect">
            <a:avLst/>
          </a:prstGeom>
        </p:spPr>
      </p:pic>
      <p:pic>
        <p:nvPicPr>
          <p:cNvPr id="17" name="Graphic 17" descr="process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40900" y="37719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40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altLang="en-US" sz="2600" b="1" dirty="0">
                <a:solidFill>
                  <a:srgbClr val="1F3864"/>
                </a:solidFill>
                <a:latin typeface="Malgun Gothic"/>
                <a:ea typeface="Malgun Gothic"/>
              </a:rPr>
              <a:t>사용환경</a:t>
            </a:r>
            <a:r>
              <a:rPr lang="en-US" alt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(</a:t>
            </a:r>
            <a:r>
              <a:rPr lang="ko-KR" altLang="en-US" sz="2600" b="1" dirty="0" err="1">
                <a:solidFill>
                  <a:srgbClr val="1F3864"/>
                </a:solidFill>
                <a:latin typeface="Malgun Gothic"/>
                <a:ea typeface="Malgun Gothic"/>
              </a:rPr>
              <a:t>폐쇄망</a:t>
            </a:r>
            <a:r>
              <a:rPr lang="en-US" alt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)</a:t>
            </a: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, 흔한 AI 도구와는 처한 환경이 다릅니다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금융·공공기관의 "폐쇄망"이라는 특수한 조건에서 출발했습니다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인터넷이 차단되어 있습니다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보안 규정상 외부 연결이 막힌 "폐쇄망" — ChatGPT · Copilot 같은 외부 AI는 아예 사용할 수 없습니다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20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쓸 수 있는 것은 사내의 "작은 AI"뿐입니다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회사 서버에 직접 설치하는 소형 모델 — 클라우드의 큰 모델보다 훨씬 덜 똑똑합니다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7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기존 </a:t>
            </a:r>
            <a:r>
              <a:rPr lang="en-US" alt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AI</a:t>
            </a: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도구들은 이런 환경을 생각하지 않</a:t>
            </a:r>
            <a:r>
              <a:rPr lang="ko-KR" altLang="en-US" sz="1600" b="1" dirty="0">
                <a:solidFill>
                  <a:srgbClr val="1F3864"/>
                </a:solidFill>
                <a:latin typeface="Malgun Gothic"/>
                <a:ea typeface="Malgun Gothic"/>
              </a:rPr>
              <a:t>습니다</a:t>
            </a:r>
            <a:r>
              <a:rPr lang="en-US" alt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.</a:t>
            </a:r>
            <a:endParaRPr lang="ko-KR" sz="1600" b="1" dirty="0">
              <a:solidFill>
                <a:srgbClr val="1F3864"/>
              </a:solidFill>
              <a:latin typeface="Malgun Gothic"/>
              <a:ea typeface="Malgun Gothic"/>
            </a:endParaRP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Copilot · Cursor 등은 클라우드의 큰 AI를 전제로 설계되어, 이곳에서는 대안이 되지 못합니다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4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6163D9C-65D9-4D31-B3FE-DA902ECCA8D1}"/>
              </a:ext>
            </a:extLst>
          </p:cNvPr>
          <p:cNvSpPr/>
          <p:nvPr/>
        </p:nvSpPr>
        <p:spPr>
          <a:xfrm>
            <a:off x="952500" y="2019300"/>
            <a:ext cx="660400" cy="660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1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9845B85-A403-4B7A-A2CC-11A2BD1A4CB4}"/>
              </a:ext>
            </a:extLst>
          </p:cNvPr>
          <p:cNvSpPr/>
          <p:nvPr/>
        </p:nvSpPr>
        <p:spPr>
          <a:xfrm>
            <a:off x="952500" y="3568700"/>
            <a:ext cx="660400" cy="660400"/>
          </a:xfrm>
          <a:prstGeom prst="roundRect">
            <a:avLst/>
          </a:prstGeom>
          <a:solidFill>
            <a:srgbClr val="C55A11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2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1BC3562-C876-4051-8F8F-9B370ACBF150}"/>
              </a:ext>
            </a:extLst>
          </p:cNvPr>
          <p:cNvSpPr/>
          <p:nvPr/>
        </p:nvSpPr>
        <p:spPr>
          <a:xfrm>
            <a:off x="952500" y="5118100"/>
            <a:ext cx="660400" cy="660400"/>
          </a:xfrm>
          <a:prstGeom prst="roundRect">
            <a:avLst/>
          </a:prstGeom>
          <a:solidFill>
            <a:srgbClr val="2E7D32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3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pic>
        <p:nvPicPr>
          <p:cNvPr id="13" name="Graphic 13" descr="Shield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9100" y="2070100"/>
            <a:ext cx="584200" cy="584200"/>
          </a:xfrm>
          <a:prstGeom prst="rect">
            <a:avLst/>
          </a:prstGeom>
        </p:spPr>
      </p:pic>
      <p:pic>
        <p:nvPicPr>
          <p:cNvPr id="14" name="Graphic 14" descr="Serve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100" y="3619500"/>
            <a:ext cx="584200" cy="584200"/>
          </a:xfrm>
          <a:prstGeom prst="rect">
            <a:avLst/>
          </a:prstGeom>
        </p:spPr>
      </p:pic>
      <p:pic>
        <p:nvPicPr>
          <p:cNvPr id="15" name="Graphic 15" descr="Cloud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9100" y="5168900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509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작은 AI</a:t>
            </a:r>
            <a:r>
              <a:rPr lang="en-US" alt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(</a:t>
            </a:r>
            <a:r>
              <a:rPr lang="en-US" altLang="ko-KR" sz="2600" b="1" dirty="0" err="1">
                <a:solidFill>
                  <a:srgbClr val="1F3864"/>
                </a:solidFill>
                <a:latin typeface="Malgun Gothic"/>
                <a:ea typeface="Malgun Gothic"/>
              </a:rPr>
              <a:t>sLLM</a:t>
            </a:r>
            <a:r>
              <a:rPr lang="en-US" alt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)</a:t>
            </a: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에게 일을 통째로 맡기면, 사고가 납니다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저희가 실제로 겪은 문제입니다 — 세 사고의 공통 뿌리는 좁은 처리량(토큰)입니다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795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사고 1   </a:t>
            </a: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멀쩡한 코드를 지워 버립니다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파일 전체를 다시 쓰게 하면, 원래 있던 기능이 소리 없이 사라지곤 합니다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2930000"/>
            <a:ext cx="10792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795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사고 2   </a:t>
            </a: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없는 것을 지어냅니다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존재하지 않는 함수나 틀린 사용법을 그럴듯하게 만들어 넣습니다 (이른바 "환각")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210000"/>
            <a:ext cx="10792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795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사고 3   </a:t>
            </a: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절반만 고치고 끝냅니다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요청의 일부만 반영하고 멈춰서, 오히려 이전보다 망가진 상태가 됩니다 — 출력이 토큰 한도에서 잘린 결과입니다</a:t>
            </a:r>
          </a:p>
        </p:txBody>
      </p:sp>
      <p:sp>
        <p:nvSpPr>
          <p:cNvPr id="9" name="s9"/>
          <p:cNvSpPr/>
          <p:nvPr/>
        </p:nvSpPr>
        <p:spPr>
          <a:xfrm>
            <a:off x="700000" y="5560000"/>
            <a:ext cx="10792000" cy="8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그래서 저희의 과제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"실수가 잦은 작은 AI로, 어떻게 중요한 코드를 안전하게 고칠 것인가?"</a:t>
            </a:r>
          </a:p>
        </p:txBody>
      </p:sp>
      <p:sp>
        <p:nvSpPr>
          <p:cNvPr id="10" name="s10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5</a:t>
            </a:r>
          </a:p>
        </p:txBody>
      </p:sp>
      <p:pic>
        <p:nvPicPr>
          <p:cNvPr id="11" name="Graphic 11" descr="warn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0600" y="1968500"/>
            <a:ext cx="508000" cy="508000"/>
          </a:xfrm>
          <a:prstGeom prst="rect">
            <a:avLst/>
          </a:prstGeom>
        </p:spPr>
      </p:pic>
      <p:pic>
        <p:nvPicPr>
          <p:cNvPr id="12" name="Graphic 12" descr="warn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0600" y="3251200"/>
            <a:ext cx="508000" cy="508000"/>
          </a:xfrm>
          <a:prstGeom prst="rect">
            <a:avLst/>
          </a:prstGeom>
        </p:spPr>
      </p:pic>
      <p:pic>
        <p:nvPicPr>
          <p:cNvPr id="13" name="Graphic 13" descr="warn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0600" y="45212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945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해결의 열쇠 — AI에게 맡기는 일을 최소로 줄였습니다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실수가 잦은 신입에게 일을 통째로 맡기지 않고, 꼼꼼한 사수가 붙는 것과 같습니다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5296000" cy="30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t"/>
          <a:lstStyle/>
          <a:p>
            <a:pPr algn="l">
              <a:spcBef>
                <a:spcPts val="300"/>
              </a:spcBef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프로그램이 하는 일  (꼼꼼한 사수)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b="1" dirty="0">
                <a:solidFill>
                  <a:srgbClr val="C55A11"/>
                </a:solidFill>
                <a:latin typeface="Malgun Gothic"/>
                <a:ea typeface="Malgun Gothic"/>
              </a:rPr>
              <a:t>정확해야 하는 "판단" 전부 — 같은 입력이면 늘 같은 결과, 틀리지 않습니다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·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고칠 곳을 정확히 찾아, 그 부분만 잘라서 준다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·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회사 매뉴얼(올바른 사용법)을 함께 쥐여 준다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·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결과물을 검수해서, 불합격품은 돌려보낸다</a:t>
            </a:r>
          </a:p>
        </p:txBody>
      </p:sp>
      <p:sp>
        <p:nvSpPr>
          <p:cNvPr id="7" name="s7"/>
          <p:cNvSpPr/>
          <p:nvPr/>
        </p:nvSpPr>
        <p:spPr>
          <a:xfrm>
            <a:off x="6196000" y="1650000"/>
            <a:ext cx="5296000" cy="305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spcBef>
                <a:spcPts val="300"/>
              </a:spcBef>
              <a:buNone/>
            </a:pPr>
            <a:r>
              <a:rPr lang="ko-KR" sz="1600" b="1" dirty="0">
                <a:solidFill>
                  <a:srgbClr val="FFFFFF"/>
                </a:solidFill>
                <a:latin typeface="Malgun Gothic"/>
                <a:ea typeface="Malgun Gothic"/>
              </a:rPr>
              <a:t>AI가 하는 일  (신입)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b="1" dirty="0">
                <a:solidFill>
                  <a:srgbClr val="F4B183"/>
                </a:solidFill>
                <a:latin typeface="Malgun Gothic"/>
                <a:ea typeface="Malgun Gothic"/>
              </a:rPr>
              <a:t>창작이 필요한 "조각 하나" — 그것뿐입니다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8FAADC"/>
                </a:solidFill>
                <a:latin typeface="Malgun Gothic"/>
                <a:ea typeface="Malgun Gothic"/>
              </a:rPr>
              <a:t>·  </a:t>
            </a: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잘라 준 조각 안의 코드만 작성한다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8FAADC"/>
                </a:solidFill>
                <a:latin typeface="Malgun Gothic"/>
                <a:ea typeface="Malgun Gothic"/>
              </a:rPr>
              <a:t>·  </a:t>
            </a: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헷갈리는 선택은 객관식 번호로만 답한다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8FAADC"/>
                </a:solidFill>
                <a:latin typeface="Malgun Gothic"/>
                <a:ea typeface="Malgun Gothic"/>
              </a:rPr>
              <a:t>·  </a:t>
            </a: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파일 전체를 다시 쓰는 일은 절대 맡지 않는다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5000000"/>
            <a:ext cx="10792000" cy="9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발명 전체를 관통하는 원리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"정확해야 하는 판단은 전부 프로그램이, 창작이 필요한 조각 하나만 AI가"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6</a:t>
            </a:r>
          </a:p>
        </p:txBody>
      </p:sp>
      <p:pic>
        <p:nvPicPr>
          <p:cNvPr id="10" name="Graphic 10" descr="checkli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70500" y="3975100"/>
            <a:ext cx="508000" cy="508000"/>
          </a:xfrm>
          <a:prstGeom prst="rect">
            <a:avLst/>
          </a:prstGeom>
        </p:spPr>
      </p:pic>
      <p:pic>
        <p:nvPicPr>
          <p:cNvPr id="11" name="Graphic 11" descr="A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600" y="39751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485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실제 동작은 다섯 단계입니다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다섯 단계 중 AI가 관여하는 곳은 단 한 곳입니다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810000" y="2300000"/>
            <a:ext cx="1850000" cy="17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571500" rIns="108000" bIns="46800" anchor="t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STEP 1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요청 접수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"검색 버튼 추가해줘"</a:t>
            </a:r>
          </a:p>
        </p:txBody>
      </p:sp>
      <p:sp>
        <p:nvSpPr>
          <p:cNvPr id="7" name="s7"/>
          <p:cNvSpPr/>
          <p:nvPr/>
        </p:nvSpPr>
        <p:spPr>
          <a:xfrm>
            <a:off x="2660000" y="2300000"/>
            <a:ext cx="33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8" name="s8"/>
          <p:cNvSpPr/>
          <p:nvPr/>
        </p:nvSpPr>
        <p:spPr>
          <a:xfrm>
            <a:off x="2990000" y="2300000"/>
            <a:ext cx="1850000" cy="17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571500" rIns="108000" bIns="46800" anchor="t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STEP 2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파일 분해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프로그램이 규칙대로 쪼갬</a:t>
            </a:r>
          </a:p>
        </p:txBody>
      </p:sp>
      <p:sp>
        <p:nvSpPr>
          <p:cNvPr id="9" name="s9"/>
          <p:cNvSpPr/>
          <p:nvPr/>
        </p:nvSpPr>
        <p:spPr>
          <a:xfrm>
            <a:off x="4840000" y="2300000"/>
            <a:ext cx="33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0" name="s10"/>
          <p:cNvSpPr/>
          <p:nvPr/>
        </p:nvSpPr>
        <p:spPr>
          <a:xfrm>
            <a:off x="5170000" y="2300000"/>
            <a:ext cx="1850000" cy="17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571500" rIns="108000" bIns="46800" anchor="t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STEP 3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위치 결정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고칠 곳을 프로그램이 지정</a:t>
            </a:r>
          </a:p>
        </p:txBody>
      </p:sp>
      <p:sp>
        <p:nvSpPr>
          <p:cNvPr id="11" name="s11"/>
          <p:cNvSpPr/>
          <p:nvPr/>
        </p:nvSpPr>
        <p:spPr>
          <a:xfrm>
            <a:off x="7020000" y="2300000"/>
            <a:ext cx="33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s12"/>
          <p:cNvSpPr/>
          <p:nvPr/>
        </p:nvSpPr>
        <p:spPr>
          <a:xfrm>
            <a:off x="7350000" y="2300000"/>
            <a:ext cx="1850000" cy="17000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square" lIns="108000" tIns="571500" rIns="108000" bIns="46800" anchor="t"/>
          <a:lstStyle/>
          <a:p>
            <a:pPr algn="ctr">
              <a:buNone/>
            </a:pPr>
            <a:r>
              <a:rPr lang="ko-KR" sz="1050" b="1" dirty="0">
                <a:solidFill>
                  <a:srgbClr val="FFFFFF"/>
                </a:solidFill>
                <a:latin typeface="Malgun Gothic"/>
                <a:ea typeface="Malgun Gothic"/>
              </a:rPr>
              <a:t>STEP 4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450" b="1" dirty="0">
                <a:solidFill>
                  <a:srgbClr val="FFFFFF"/>
                </a:solidFill>
                <a:latin typeface="Malgun Gothic"/>
                <a:ea typeface="Malgun Gothic"/>
              </a:rPr>
              <a:t>조각 작성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00" dirty="0">
                <a:solidFill>
                  <a:srgbClr val="FBE5D6"/>
                </a:solidFill>
                <a:latin typeface="Malgun Gothic"/>
                <a:ea typeface="Malgun Gothic"/>
              </a:rPr>
              <a:t>AI의 유일한 역할</a:t>
            </a:r>
          </a:p>
        </p:txBody>
      </p:sp>
      <p:sp>
        <p:nvSpPr>
          <p:cNvPr id="13" name="s13"/>
          <p:cNvSpPr/>
          <p:nvPr/>
        </p:nvSpPr>
        <p:spPr>
          <a:xfrm>
            <a:off x="9200000" y="2300000"/>
            <a:ext cx="33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4" name="s14"/>
          <p:cNvSpPr/>
          <p:nvPr/>
        </p:nvSpPr>
        <p:spPr>
          <a:xfrm>
            <a:off x="9530000" y="2300000"/>
            <a:ext cx="1850000" cy="17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571500" rIns="108000" bIns="46800" anchor="t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STEP 5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검수 · 반영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검사 통과분만 파일에</a:t>
            </a:r>
          </a:p>
        </p:txBody>
      </p:sp>
      <p:sp>
        <p:nvSpPr>
          <p:cNvPr id="15" name="s15"/>
          <p:cNvSpPr/>
          <p:nvPr/>
        </p:nvSpPr>
        <p:spPr>
          <a:xfrm>
            <a:off x="700000" y="4600000"/>
            <a:ext cx="10792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400" b="1" dirty="0">
                <a:solidFill>
                  <a:srgbClr val="C55A11"/>
                </a:solidFill>
                <a:latin typeface="Malgun Gothic"/>
                <a:ea typeface="Malgun Gothic"/>
              </a:rPr>
              <a:t>중요한 점   </a:t>
            </a: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AI는 "어디를 고칠지"조차 모릅니다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위치를 착각하는 실수 자체가 불가능하고, AI가 실수해도 5단계 검수에서 걸러집니다 — 안전이 AI 실력에 달려 있지 않습니다</a:t>
            </a:r>
          </a:p>
        </p:txBody>
      </p:sp>
      <p:sp>
        <p:nvSpPr>
          <p:cNvPr id="16" name="s16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7</a:t>
            </a:r>
          </a:p>
        </p:txBody>
      </p:sp>
      <p:pic>
        <p:nvPicPr>
          <p:cNvPr id="17" name="Graphic 17" descr="step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9400" y="2501900"/>
            <a:ext cx="381000" cy="381000"/>
          </a:xfrm>
          <a:prstGeom prst="rect">
            <a:avLst/>
          </a:prstGeom>
        </p:spPr>
      </p:pic>
      <p:pic>
        <p:nvPicPr>
          <p:cNvPr id="18" name="Graphic 18" descr="step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1100" y="2501900"/>
            <a:ext cx="381000" cy="381000"/>
          </a:xfrm>
          <a:prstGeom prst="rect">
            <a:avLst/>
          </a:prstGeom>
        </p:spPr>
      </p:pic>
      <p:pic>
        <p:nvPicPr>
          <p:cNvPr id="19" name="Graphic 19" descr="step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5500" y="2501900"/>
            <a:ext cx="381000" cy="381000"/>
          </a:xfrm>
          <a:prstGeom prst="rect">
            <a:avLst/>
          </a:prstGeom>
        </p:spPr>
      </p:pic>
      <p:pic>
        <p:nvPicPr>
          <p:cNvPr id="20" name="Graphic 20" descr="step4 A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89900" y="2501900"/>
            <a:ext cx="381000" cy="381000"/>
          </a:xfrm>
          <a:prstGeom prst="rect">
            <a:avLst/>
          </a:prstGeom>
        </p:spPr>
      </p:pic>
      <p:pic>
        <p:nvPicPr>
          <p:cNvPr id="21" name="Graphic 21" descr="step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61600" y="25019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280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새롭다고 생각하는 지점은 다섯 가지입니다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모두 실제 코드로 구현되어 있어, 출원 시 실시예로 바로 뒷받침할 수 있습니다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C55A11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고칠 곳은 프로그램이 정한다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    AI는 조각만 작성 — 편집의 안전이 AI 성능과 무관해집니다</a:t>
            </a:r>
            <a:r>
              <a:rPr lang="ko-KR" sz="1100" b="1" dirty="0">
                <a:solidFill>
                  <a:srgbClr val="C55A11"/>
                </a:solidFill>
                <a:latin typeface="Malgun Gothic"/>
                <a:ea typeface="Malgun Gothic"/>
              </a:rPr>
              <a:t>    ★ 중심 후보</a:t>
            </a:r>
          </a:p>
        </p:txBody>
      </p:sp>
      <p:sp>
        <p:nvSpPr>
          <p:cNvPr id="7" name="s7"/>
          <p:cNvSpPr/>
          <p:nvPr/>
        </p:nvSpPr>
        <p:spPr>
          <a:xfrm>
            <a:off x="700000" y="259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C55A11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정답 매뉴얼을 자동으로 쥐여준다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    사내 규칙 사용이 감지되면 올바른 사용법을 자동 첨부 — 지어낼 틈이 없습니다</a:t>
            </a:r>
            <a:r>
              <a:rPr lang="ko-KR" sz="1100" b="1" dirty="0">
                <a:solidFill>
                  <a:srgbClr val="C55A11"/>
                </a:solidFill>
                <a:latin typeface="Malgun Gothic"/>
                <a:ea typeface="Malgun Gothic"/>
              </a:rPr>
              <a:t>    ★ 중심 후보</a:t>
            </a:r>
          </a:p>
        </p:txBody>
      </p:sp>
      <p:sp>
        <p:nvSpPr>
          <p:cNvPr id="8" name="s8"/>
          <p:cNvSpPr/>
          <p:nvPr/>
        </p:nvSpPr>
        <p:spPr>
          <a:xfrm>
            <a:off x="700000" y="353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헷갈리면 객관식으로 묻는다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    AI는 후보 중 번호만 선택 — 자유 서술을 배제합니다</a:t>
            </a:r>
          </a:p>
        </p:txBody>
      </p:sp>
      <p:sp>
        <p:nvSpPr>
          <p:cNvPr id="9" name="s9"/>
          <p:cNvSpPr/>
          <p:nvPr/>
        </p:nvSpPr>
        <p:spPr>
          <a:xfrm>
            <a:off x="700000" y="447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반영 전에 컴파일러로 검사한다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    불합격 코드는 파일에 들어가지 못합니다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541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AI가 꺼져 있어도 동작한다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    미리 준비한 문서로 응답 — 데이터가 밖으로 나가지 않습니다</a:t>
            </a:r>
          </a:p>
        </p:txBody>
      </p:sp>
      <p:sp>
        <p:nvSpPr>
          <p:cNvPr id="11" name="s11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8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DF3CE75-4B23-4CCF-8F10-5AECAFCBC50D}"/>
              </a:ext>
            </a:extLst>
          </p:cNvPr>
          <p:cNvSpPr/>
          <p:nvPr/>
        </p:nvSpPr>
        <p:spPr>
          <a:xfrm>
            <a:off x="889000" y="1809750"/>
            <a:ext cx="508000" cy="508000"/>
          </a:xfrm>
          <a:prstGeom prst="ellipse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A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FD7A412-27FD-4A5F-A678-FFF81ACF74FC}"/>
              </a:ext>
            </a:extLst>
          </p:cNvPr>
          <p:cNvSpPr/>
          <p:nvPr/>
        </p:nvSpPr>
        <p:spPr>
          <a:xfrm>
            <a:off x="889000" y="2749550"/>
            <a:ext cx="508000" cy="508000"/>
          </a:xfrm>
          <a:prstGeom prst="ellipse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B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EF555162-3767-4357-BA66-1F0DCF5271FD}"/>
              </a:ext>
            </a:extLst>
          </p:cNvPr>
          <p:cNvSpPr/>
          <p:nvPr/>
        </p:nvSpPr>
        <p:spPr>
          <a:xfrm>
            <a:off x="889000" y="3689350"/>
            <a:ext cx="508000" cy="508000"/>
          </a:xfrm>
          <a:prstGeom prst="ellipse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C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F367927-34AC-46EF-AB31-2B384F4E15C9}"/>
              </a:ext>
            </a:extLst>
          </p:cNvPr>
          <p:cNvSpPr/>
          <p:nvPr/>
        </p:nvSpPr>
        <p:spPr>
          <a:xfrm>
            <a:off x="889000" y="4629150"/>
            <a:ext cx="508000" cy="508000"/>
          </a:xfrm>
          <a:prstGeom prst="ellipse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D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7CEFC55-96B9-4709-B620-AC64B4DEC6BF}"/>
              </a:ext>
            </a:extLst>
          </p:cNvPr>
          <p:cNvSpPr/>
          <p:nvPr/>
        </p:nvSpPr>
        <p:spPr>
          <a:xfrm>
            <a:off x="889000" y="5568950"/>
            <a:ext cx="508000" cy="508000"/>
          </a:xfrm>
          <a:prstGeom prst="ellipse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E</a:t>
            </a:r>
            <a:endParaRPr lang="ko-KR" altLang="en-US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846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Ⓐ 고칠 곳은 프로그램이 정한다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새로움 ① — 편집의 안전을 AI가 아니라 프로그램 구조가 보장합니다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3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기존 방식   </a:t>
            </a:r>
            <a:r>
              <a:rPr lang="ko-KR" sz="1550" b="1" dirty="0">
                <a:solidFill>
                  <a:srgbClr val="1F3864"/>
                </a:solidFill>
                <a:latin typeface="Malgun Gothic"/>
                <a:ea typeface="Malgun Gothic"/>
              </a:rPr>
              <a:t>AI가 파일 전체나 넓은 범위를 다시 씁니다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결과가 좋을지 나쁠지가 전적으로 AI 실력에 달려 있습니다 — 작은 AI에서는 사고로 이어집니다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100000"/>
            <a:ext cx="10792000" cy="13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본 발명   </a:t>
            </a:r>
            <a:r>
              <a:rPr lang="ko-KR" sz="1550" b="1" dirty="0">
                <a:solidFill>
                  <a:srgbClr val="1F3864"/>
                </a:solidFill>
                <a:latin typeface="Malgun Gothic"/>
                <a:ea typeface="Malgun Gothic"/>
              </a:rPr>
              <a:t>프로그램이 위치를 지정하고, AI는 그 조각 안만 작성합니다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파일을 규칙대로 쪼개고 고칠 곳을 프로그램이 딱 짚어 줍니다 — 애초에 망칠 수 있는 범위가 좁습니다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750000"/>
            <a:ext cx="10792000" cy="9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특허 관점에서 왜 의미가 있나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"작은 AI는 못 믿는다"는 문제를, AI 개선이 아니라 처리 구조(방법)로 해결했다는 점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9</a:t>
            </a:r>
          </a:p>
        </p:txBody>
      </p:sp>
      <p:pic>
        <p:nvPicPr>
          <p:cNvPr id="10" name="Graphic 10" descr="proble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3700" y="2006600"/>
            <a:ext cx="584200" cy="584200"/>
          </a:xfrm>
          <a:prstGeom prst="rect">
            <a:avLst/>
          </a:prstGeom>
        </p:spPr>
      </p:pic>
      <p:pic>
        <p:nvPicPr>
          <p:cNvPr id="11" name="Graphic 11" descr="solu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3700" y="3454400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38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09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Ⓑ 정답 매뉴얼을 자동으로 쥐여준다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새로움 ② — AI의 "지어내기(환각)"를 부탁이 아니라 장치로 막습니다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3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무엇을 하나   </a:t>
            </a: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사내 함수 사용이 감지되면, 올바른 사용법 "정답지"를 자동 첨부합니다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예: 사내 표준 데이터 조회 함수, 날짜 선택 부품 등 — AI가 자주 틀리는 사용법을 미리 정답으로 제공합니다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100000"/>
            <a:ext cx="10792000" cy="13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흔한 방식과의 차이   </a:t>
            </a: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확률로 고르는 것이 아니라, 조건이 맞으면 반드시 첨부합니다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보통은 "비슷해 보이는 문서"를 확률로 골라 주어 빠질 수 있지만, 본 발명은 감지되면 100% · 아니면 0%인 확정 규칙입니다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750000"/>
            <a:ext cx="10792000" cy="9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특허 관점에서 왜 의미가 있나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"AI야 틀리지 마" 같은 문구(설득)가 아니라, 감지 → 첨부라는 기술 구성으로 환각을 차단한 점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10</a:t>
            </a:r>
          </a:p>
        </p:txBody>
      </p:sp>
      <p:pic>
        <p:nvPicPr>
          <p:cNvPr id="10" name="Graphic 10" descr="checkli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9100" y="2019300"/>
            <a:ext cx="558800" cy="558800"/>
          </a:xfrm>
          <a:prstGeom prst="rect">
            <a:avLst/>
          </a:prstGeom>
        </p:spPr>
      </p:pic>
      <p:pic>
        <p:nvPicPr>
          <p:cNvPr id="11" name="Graphic 11" descr="shiel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100" y="34671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67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Ⓒ · Ⓓ 두 겹의 안전장치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새로움 ③·④ — AI의 자유를 더 줄이고, 결과를 검사로 닫아 겁니다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5296000" cy="39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t"/>
          <a:lstStyle/>
          <a:p>
            <a:pPr algn="l">
              <a:spcBef>
                <a:spcPts val="300"/>
              </a:spcBef>
              <a:buNone/>
            </a:pPr>
            <a:r>
              <a:rPr lang="ko-KR" sz="1900" b="1" dirty="0">
                <a:solidFill>
                  <a:srgbClr val="C55A11"/>
                </a:solidFill>
                <a:latin typeface="Malgun Gothic"/>
                <a:ea typeface="Malgun Gothic"/>
              </a:rPr>
              <a:t>Ⓒ   </a:t>
            </a:r>
            <a:r>
              <a:rPr lang="ko-KR" sz="1550" b="1" dirty="0">
                <a:solidFill>
                  <a:srgbClr val="1F3864"/>
                </a:solidFill>
                <a:latin typeface="Malgun Gothic"/>
                <a:ea typeface="Malgun Gothic"/>
              </a:rPr>
              <a:t>헷갈리면 객관식으로 묻는다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후보가 여럿이면, 프로그램이 번호 목록을 만듭니다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"고칠 만한 곳이 3군데 있는데 어디?" 를 목록으로 제시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AI는 "3번" 처럼 번호만 답합니다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문장을 지어낼 기회 자체를 주지 않습니다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"보고 고르기"는 작은 AI도 잘합니다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작은 AI의 강점만 안전하게 활용하는 방식</a:t>
            </a:r>
          </a:p>
        </p:txBody>
      </p:sp>
      <p:sp>
        <p:nvSpPr>
          <p:cNvPr id="7" name="s7"/>
          <p:cNvSpPr/>
          <p:nvPr/>
        </p:nvSpPr>
        <p:spPr>
          <a:xfrm>
            <a:off x="6196000" y="1650000"/>
            <a:ext cx="5296000" cy="39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t"/>
          <a:lstStyle/>
          <a:p>
            <a:pPr algn="l">
              <a:spcBef>
                <a:spcPts val="300"/>
              </a:spcBef>
              <a:buNone/>
            </a:pPr>
            <a:r>
              <a:rPr lang="ko-KR" sz="1900" b="1" dirty="0">
                <a:solidFill>
                  <a:srgbClr val="C55A11"/>
                </a:solidFill>
                <a:latin typeface="Malgun Gothic"/>
                <a:ea typeface="Malgun Gothic"/>
              </a:rPr>
              <a:t>Ⓓ   </a:t>
            </a:r>
            <a:r>
              <a:rPr lang="ko-KR" sz="1550" b="1" dirty="0">
                <a:solidFill>
                  <a:srgbClr val="1F3864"/>
                </a:solidFill>
                <a:latin typeface="Malgun Gothic"/>
                <a:ea typeface="Malgun Gothic"/>
              </a:rPr>
              <a:t>반영 전에 컴파일러로 검사한다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AI가 준 코드를 문법·타입 검사기로 확인합니다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사람이 보기 전에 기계가 먼저 검사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문제가 있으면 한 번 자동으로 고쳐 봅니다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검사 오류 내용을 근거로 스스로 교정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그래도 안 되면 원본을 그대로 지킵니다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불합격품은 절대 파일에 들어가지 않습니다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5750000"/>
            <a:ext cx="10792000" cy="7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역할   </a:t>
            </a:r>
            <a:r>
              <a:rPr lang="ko-KR" sz="1400" dirty="0">
                <a:solidFill>
                  <a:srgbClr val="FFFFFF"/>
                </a:solidFill>
                <a:latin typeface="Malgun Gothic"/>
                <a:ea typeface="Malgun Gothic"/>
              </a:rPr>
              <a:t>두 장치 모두 중심 발명(Ⓐ+Ⓑ)에 붙는 보조 안전장치입니다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11</a:t>
            </a:r>
          </a:p>
        </p:txBody>
      </p:sp>
      <p:pic>
        <p:nvPicPr>
          <p:cNvPr id="10" name="Graphic 10" descr="ques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3700" y="4419600"/>
            <a:ext cx="787400" cy="787400"/>
          </a:xfrm>
          <a:prstGeom prst="rect">
            <a:avLst/>
          </a:prstGeom>
        </p:spPr>
      </p:pic>
      <p:pic>
        <p:nvPicPr>
          <p:cNvPr id="11" name="Graphic 11" descr="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2800" y="4419600"/>
            <a:ext cx="7874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23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Ⓔ AI가 꺼져 있어도 동작한다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새로움 ⑤ — 폐쇄망에서는 "AI 서버가 꺼진 날"도 일상이기 때문입니다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보통의 도구는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AI 서버가 꺼지면 오류 화면 — 아무것도 할 수 없습니다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20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600" b="1" dirty="0">
                <a:solidFill>
                  <a:srgbClr val="C55A11"/>
                </a:solidFill>
                <a:latin typeface="Malgun Gothic"/>
                <a:ea typeface="Malgun Gothic"/>
              </a:rPr>
              <a:t>본 발명은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미리 준비해 둔 사용 설명 문서를 스스로 검색해 즉시 답합니다 — 장애가 아니라 "정상 동작 모드"입니다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7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폐쇄망 안전 설계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실패 기록도 컴퓨터 안에만 저장합니다 — 어떤 데이터도 밖으로 나가지 않습니다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12</a:t>
            </a:r>
          </a:p>
        </p:txBody>
      </p:sp>
      <p:pic>
        <p:nvPicPr>
          <p:cNvPr id="10" name="Graphic 10" descr="proble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9100" y="2057400"/>
            <a:ext cx="558800" cy="558800"/>
          </a:xfrm>
          <a:prstGeom prst="rect">
            <a:avLst/>
          </a:prstGeom>
        </p:spPr>
      </p:pic>
      <p:pic>
        <p:nvPicPr>
          <p:cNvPr id="11" name="Graphic 11" descr="solu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100" y="3606800"/>
            <a:ext cx="558800" cy="558800"/>
          </a:xfrm>
          <a:prstGeom prst="rect">
            <a:avLst/>
          </a:prstGeom>
        </p:spPr>
      </p:pic>
      <p:pic>
        <p:nvPicPr>
          <p:cNvPr id="12" name="Graphic 12" descr="safe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9100" y="51562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213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기존 도구와 나란히 놓고 보면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차이는 "누가 결정하고, 누가 책임지는가"에 있습니다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s7"/>
          <p:cNvSpPr/>
          <p:nvPr/>
        </p:nvSpPr>
        <p:spPr>
          <a:xfrm>
            <a:off x="700000" y="1700000"/>
            <a:ext cx="2400000" cy="7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/>
                <a:ea typeface="Malgun Gothic"/>
              </a:rPr>
              <a:t>구분</a:t>
            </a:r>
          </a:p>
        </p:txBody>
      </p:sp>
      <p:sp>
        <p:nvSpPr>
          <p:cNvPr id="8" name="s8"/>
          <p:cNvSpPr/>
          <p:nvPr/>
        </p:nvSpPr>
        <p:spPr>
          <a:xfrm>
            <a:off x="3100000" y="1700000"/>
            <a:ext cx="4196000" cy="7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/>
                <a:ea typeface="Malgun Gothic"/>
              </a:rPr>
              <a:t>기존 도구  (Copilot · Cursor)</a:t>
            </a:r>
          </a:p>
        </p:txBody>
      </p:sp>
      <p:sp>
        <p:nvSpPr>
          <p:cNvPr id="9" name="s9"/>
          <p:cNvSpPr/>
          <p:nvPr/>
        </p:nvSpPr>
        <p:spPr>
          <a:xfrm>
            <a:off x="7296000" y="1700000"/>
            <a:ext cx="4196000" cy="7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/>
                <a:ea typeface="Malgun Gothic"/>
              </a:rPr>
              <a:t>본 발명  (Axiom AI)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2400000"/>
            <a:ext cx="2400000" cy="83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어디서 쓰나</a:t>
            </a:r>
          </a:p>
        </p:txBody>
      </p:sp>
      <p:sp>
        <p:nvSpPr>
          <p:cNvPr id="11" name="s11"/>
          <p:cNvSpPr/>
          <p:nvPr/>
        </p:nvSpPr>
        <p:spPr>
          <a:xfrm>
            <a:off x="3100000" y="2400000"/>
            <a:ext cx="4196000" cy="8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인터넷(클라우드 큰 AI) 필수</a:t>
            </a:r>
          </a:p>
        </p:txBody>
      </p:sp>
      <p:sp>
        <p:nvSpPr>
          <p:cNvPr id="12" name="s12"/>
          <p:cNvSpPr/>
          <p:nvPr/>
        </p:nvSpPr>
        <p:spPr>
          <a:xfrm>
            <a:off x="7296000" y="2400000"/>
            <a:ext cx="4196000" cy="83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인터넷 없는 폐쇄망 · 사내 작은 AI</a:t>
            </a:r>
          </a:p>
        </p:txBody>
      </p:sp>
      <p:sp>
        <p:nvSpPr>
          <p:cNvPr id="13" name="s13"/>
          <p:cNvSpPr/>
          <p:nvPr/>
        </p:nvSpPr>
        <p:spPr>
          <a:xfrm>
            <a:off x="700000" y="3230000"/>
            <a:ext cx="2400000" cy="83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고칠 곳은 누가 정하나</a:t>
            </a:r>
          </a:p>
        </p:txBody>
      </p:sp>
      <p:sp>
        <p:nvSpPr>
          <p:cNvPr id="14" name="s14"/>
          <p:cNvSpPr/>
          <p:nvPr/>
        </p:nvSpPr>
        <p:spPr>
          <a:xfrm>
            <a:off x="3100000" y="3230000"/>
            <a:ext cx="4196000" cy="8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AI가 정하고, 넓게 다시 씀</a:t>
            </a:r>
          </a:p>
        </p:txBody>
      </p:sp>
      <p:sp>
        <p:nvSpPr>
          <p:cNvPr id="15" name="s15"/>
          <p:cNvSpPr/>
          <p:nvPr/>
        </p:nvSpPr>
        <p:spPr>
          <a:xfrm>
            <a:off x="7296000" y="3230000"/>
            <a:ext cx="4196000" cy="83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프로그램이 정하고, AI는 조각만</a:t>
            </a:r>
          </a:p>
        </p:txBody>
      </p:sp>
      <p:sp>
        <p:nvSpPr>
          <p:cNvPr id="16" name="s16"/>
          <p:cNvSpPr/>
          <p:nvPr/>
        </p:nvSpPr>
        <p:spPr>
          <a:xfrm>
            <a:off x="700000" y="4060000"/>
            <a:ext cx="2400000" cy="83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AI가 틀리면</a:t>
            </a:r>
          </a:p>
        </p:txBody>
      </p:sp>
      <p:sp>
        <p:nvSpPr>
          <p:cNvPr id="17" name="s17"/>
          <p:cNvSpPr/>
          <p:nvPr/>
        </p:nvSpPr>
        <p:spPr>
          <a:xfrm>
            <a:off x="3100000" y="4060000"/>
            <a:ext cx="4196000" cy="8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틀린 코드가 그대로 반영됨</a:t>
            </a:r>
          </a:p>
        </p:txBody>
      </p:sp>
      <p:sp>
        <p:nvSpPr>
          <p:cNvPr id="18" name="s18"/>
          <p:cNvSpPr/>
          <p:nvPr/>
        </p:nvSpPr>
        <p:spPr>
          <a:xfrm>
            <a:off x="7296000" y="4060000"/>
            <a:ext cx="4196000" cy="83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검사에 걸려 파일에 들어가지 못함</a:t>
            </a:r>
          </a:p>
        </p:txBody>
      </p:sp>
      <p:sp>
        <p:nvSpPr>
          <p:cNvPr id="19" name="s19"/>
          <p:cNvSpPr/>
          <p:nvPr/>
        </p:nvSpPr>
        <p:spPr>
          <a:xfrm>
            <a:off x="700000" y="4890000"/>
            <a:ext cx="2400000" cy="83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AI가 꺼지면</a:t>
            </a:r>
          </a:p>
        </p:txBody>
      </p:sp>
      <p:sp>
        <p:nvSpPr>
          <p:cNvPr id="20" name="s20"/>
          <p:cNvSpPr/>
          <p:nvPr/>
        </p:nvSpPr>
        <p:spPr>
          <a:xfrm>
            <a:off x="3100000" y="4890000"/>
            <a:ext cx="4196000" cy="8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동작 불가 (오류)</a:t>
            </a:r>
          </a:p>
        </p:txBody>
      </p:sp>
      <p:sp>
        <p:nvSpPr>
          <p:cNvPr id="21" name="s21"/>
          <p:cNvSpPr/>
          <p:nvPr/>
        </p:nvSpPr>
        <p:spPr>
          <a:xfrm>
            <a:off x="7296000" y="4890000"/>
            <a:ext cx="4196000" cy="83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문서 검색으로 계속 응답</a:t>
            </a:r>
          </a:p>
        </p:txBody>
      </p:sp>
      <p:sp>
        <p:nvSpPr>
          <p:cNvPr id="22" name="s22"/>
          <p:cNvSpPr/>
          <p:nvPr/>
        </p:nvSpPr>
        <p:spPr>
          <a:xfrm>
            <a:off x="700000" y="5920000"/>
            <a:ext cx="10792000" cy="7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유의할 점   </a:t>
            </a:r>
            <a:r>
              <a:rPr lang="ko-KR" sz="1400" dirty="0">
                <a:solidFill>
                  <a:srgbClr val="FFFFFF"/>
                </a:solidFill>
                <a:latin typeface="Malgun Gothic"/>
                <a:ea typeface="Malgun Gothic"/>
              </a:rPr>
              <a:t>부품 하나하나(AI 코드 수정 · 문서 검색)는 알려진 기술 — 새로움은 이 조합의 구체적인 방식에 있습니다</a:t>
            </a:r>
          </a:p>
        </p:txBody>
      </p:sp>
      <p:sp>
        <p:nvSpPr>
          <p:cNvPr id="23" name="s23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비슷한 기술은 저희도 미리 찾아봤습니다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발명자가 아는 범위의 예비 조사입니다 — 정식 선행기술조사는 변리사님께 부탁드립니다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700000"/>
            <a:ext cx="2500000" cy="6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250" b="1" dirty="0">
                <a:solidFill>
                  <a:srgbClr val="FFFFFF"/>
                </a:solidFill>
                <a:latin typeface="Malgun Gothic"/>
                <a:ea typeface="Malgun Gothic"/>
              </a:rPr>
              <a:t>기술</a:t>
            </a:r>
          </a:p>
        </p:txBody>
      </p:sp>
      <p:sp>
        <p:nvSpPr>
          <p:cNvPr id="7" name="s7"/>
          <p:cNvSpPr/>
          <p:nvPr/>
        </p:nvSpPr>
        <p:spPr>
          <a:xfrm>
            <a:off x="3200000" y="1700000"/>
            <a:ext cx="3700000" cy="6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250" b="1" dirty="0">
                <a:solidFill>
                  <a:srgbClr val="FFFFFF"/>
                </a:solidFill>
                <a:latin typeface="Malgun Gothic"/>
                <a:ea typeface="Malgun Gothic"/>
              </a:rPr>
              <a:t>방식</a:t>
            </a:r>
          </a:p>
        </p:txBody>
      </p:sp>
      <p:sp>
        <p:nvSpPr>
          <p:cNvPr id="8" name="s8"/>
          <p:cNvSpPr/>
          <p:nvPr/>
        </p:nvSpPr>
        <p:spPr>
          <a:xfrm>
            <a:off x="6900000" y="1700000"/>
            <a:ext cx="4592000" cy="6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250" b="1" dirty="0">
                <a:solidFill>
                  <a:srgbClr val="FFFFFF"/>
                </a:solidFill>
                <a:latin typeface="Malgun Gothic"/>
                <a:ea typeface="Malgun Gothic"/>
              </a:rPr>
              <a:t>본 발명과 다른 점 (발명자 판단)</a:t>
            </a:r>
          </a:p>
        </p:txBody>
      </p:sp>
      <p:sp>
        <p:nvSpPr>
          <p:cNvPr id="9" name="s9"/>
          <p:cNvSpPr/>
          <p:nvPr/>
        </p:nvSpPr>
        <p:spPr>
          <a:xfrm>
            <a:off x="700000" y="2320000"/>
            <a:ext cx="2500000" cy="7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GitHub Copilot</a:t>
            </a:r>
          </a:p>
        </p:txBody>
      </p:sp>
      <p:sp>
        <p:nvSpPr>
          <p:cNvPr id="10" name="s10"/>
          <p:cNvSpPr/>
          <p:nvPr/>
        </p:nvSpPr>
        <p:spPr>
          <a:xfrm>
            <a:off x="3200000" y="2320000"/>
            <a:ext cx="37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클라우드 큰 AI로 코드 자동완성·채팅</a:t>
            </a:r>
          </a:p>
        </p:txBody>
      </p:sp>
      <p:sp>
        <p:nvSpPr>
          <p:cNvPr id="11" name="s11"/>
          <p:cNvSpPr/>
          <p:nvPr/>
        </p:nvSpPr>
        <p:spPr>
          <a:xfrm>
            <a:off x="6900000" y="2320000"/>
            <a:ext cx="4592000" cy="76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1F3864"/>
                </a:solidFill>
                <a:latin typeface="Malgun Gothic"/>
                <a:ea typeface="Malgun Gothic"/>
              </a:rPr>
              <a:t>폐쇄망에서 못 씀 · 사고 방지 장치 없음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3080000"/>
            <a:ext cx="2500000" cy="7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Cursor</a:t>
            </a:r>
          </a:p>
        </p:txBody>
      </p:sp>
      <p:sp>
        <p:nvSpPr>
          <p:cNvPr id="13" name="s13"/>
          <p:cNvSpPr/>
          <p:nvPr/>
        </p:nvSpPr>
        <p:spPr>
          <a:xfrm>
            <a:off x="3200000" y="3080000"/>
            <a:ext cx="37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클라우드 AI가 파일을 통째로 수정</a:t>
            </a:r>
          </a:p>
        </p:txBody>
      </p:sp>
      <p:sp>
        <p:nvSpPr>
          <p:cNvPr id="14" name="s14"/>
          <p:cNvSpPr/>
          <p:nvPr/>
        </p:nvSpPr>
        <p:spPr>
          <a:xfrm>
            <a:off x="6900000" y="3080000"/>
            <a:ext cx="4592000" cy="76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1F3864"/>
                </a:solidFill>
                <a:latin typeface="Malgun Gothic"/>
                <a:ea typeface="Malgun Gothic"/>
              </a:rPr>
              <a:t>큰 AI 전제 — 작은 AI에서의 사고 방지 구조 없음</a:t>
            </a:r>
          </a:p>
        </p:txBody>
      </p:sp>
      <p:sp>
        <p:nvSpPr>
          <p:cNvPr id="15" name="s15"/>
          <p:cNvSpPr/>
          <p:nvPr/>
        </p:nvSpPr>
        <p:spPr>
          <a:xfrm>
            <a:off x="700000" y="3840000"/>
            <a:ext cx="2500000" cy="7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Continue 등 로컬 확장</a:t>
            </a:r>
          </a:p>
        </p:txBody>
      </p:sp>
      <p:sp>
        <p:nvSpPr>
          <p:cNvPr id="16" name="s16"/>
          <p:cNvSpPr/>
          <p:nvPr/>
        </p:nvSpPr>
        <p:spPr>
          <a:xfrm>
            <a:off x="3200000" y="3840000"/>
            <a:ext cx="37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사내 AI를 채팅·편집에 연결</a:t>
            </a:r>
          </a:p>
        </p:txBody>
      </p:sp>
      <p:sp>
        <p:nvSpPr>
          <p:cNvPr id="17" name="s17"/>
          <p:cNvSpPr/>
          <p:nvPr/>
        </p:nvSpPr>
        <p:spPr>
          <a:xfrm>
            <a:off x="6900000" y="3840000"/>
            <a:ext cx="4592000" cy="76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1F3864"/>
                </a:solidFill>
                <a:latin typeface="Malgun Gothic"/>
                <a:ea typeface="Malgun Gothic"/>
              </a:rPr>
              <a:t>AI가 준 코드를 그대로 반영 — 검사·매뉴얼 장치 없음</a:t>
            </a:r>
          </a:p>
        </p:txBody>
      </p:sp>
      <p:sp>
        <p:nvSpPr>
          <p:cNvPr id="18" name="s18"/>
          <p:cNvSpPr/>
          <p:nvPr/>
        </p:nvSpPr>
        <p:spPr>
          <a:xfrm>
            <a:off x="700000" y="4600000"/>
            <a:ext cx="2500000" cy="7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Aider</a:t>
            </a:r>
          </a:p>
        </p:txBody>
      </p:sp>
      <p:sp>
        <p:nvSpPr>
          <p:cNvPr id="19" name="s19"/>
          <p:cNvSpPr/>
          <p:nvPr/>
        </p:nvSpPr>
        <p:spPr>
          <a:xfrm>
            <a:off x="3200000" y="4600000"/>
            <a:ext cx="37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명령줄에서 AI로 코드 수정</a:t>
            </a:r>
          </a:p>
        </p:txBody>
      </p:sp>
      <p:sp>
        <p:nvSpPr>
          <p:cNvPr id="20" name="s20"/>
          <p:cNvSpPr/>
          <p:nvPr/>
        </p:nvSpPr>
        <p:spPr>
          <a:xfrm>
            <a:off x="6900000" y="4600000"/>
            <a:ext cx="4592000" cy="76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1F3864"/>
                </a:solidFill>
                <a:latin typeface="Malgun Gothic"/>
                <a:ea typeface="Malgun Gothic"/>
              </a:rPr>
              <a:t>큰 AI 전제 · 매뉴얼 자동 첨부 없음</a:t>
            </a:r>
          </a:p>
        </p:txBody>
      </p:sp>
      <p:sp>
        <p:nvSpPr>
          <p:cNvPr id="21" name="s21"/>
          <p:cNvSpPr/>
          <p:nvPr/>
        </p:nvSpPr>
        <p:spPr>
          <a:xfrm>
            <a:off x="700000" y="5360000"/>
            <a:ext cx="2500000" cy="7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일반 문서검색(RAG)</a:t>
            </a:r>
          </a:p>
        </p:txBody>
      </p:sp>
      <p:sp>
        <p:nvSpPr>
          <p:cNvPr id="22" name="s22"/>
          <p:cNvSpPr/>
          <p:nvPr/>
        </p:nvSpPr>
        <p:spPr>
          <a:xfrm>
            <a:off x="3200000" y="5360000"/>
            <a:ext cx="37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비슷해 보이는 문서를 확률로 골라 첨부</a:t>
            </a:r>
          </a:p>
        </p:txBody>
      </p:sp>
      <p:sp>
        <p:nvSpPr>
          <p:cNvPr id="23" name="s23"/>
          <p:cNvSpPr/>
          <p:nvPr/>
        </p:nvSpPr>
        <p:spPr>
          <a:xfrm>
            <a:off x="6900000" y="5360000"/>
            <a:ext cx="4592000" cy="76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1F3864"/>
                </a:solidFill>
                <a:latin typeface="Malgun Gothic"/>
                <a:ea typeface="Malgun Gothic"/>
              </a:rPr>
              <a:t>빠질 수 있음 — 본 발명은 조건 충족 시 반드시 첨부</a:t>
            </a:r>
          </a:p>
        </p:txBody>
      </p:sp>
      <p:sp>
        <p:nvSpPr>
          <p:cNvPr id="24" name="s24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실제로 도는 모습 — 이어지는 도식 8장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실제 저장소의 파일·함수 위치를 근거로 그렸습니다 — 청구항의 처리 흐름도 재료로 쓰실 수 있습니다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도식 지도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8장의 관계와 읽는 순서</a:t>
            </a:r>
          </a:p>
        </p:txBody>
      </p:sp>
      <p:sp>
        <p:nvSpPr>
          <p:cNvPr id="7" name="s7"/>
          <p:cNvSpPr/>
          <p:nvPr/>
        </p:nvSpPr>
        <p:spPr>
          <a:xfrm>
            <a:off x="6196000" y="165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전체 조감도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8단계 처리 중 AI는 단 1칸</a:t>
            </a:r>
          </a:p>
        </p:txBody>
      </p:sp>
      <p:sp>
        <p:nvSpPr>
          <p:cNvPr id="8" name="s8"/>
          <p:cNvSpPr/>
          <p:nvPr/>
        </p:nvSpPr>
        <p:spPr>
          <a:xfrm>
            <a:off x="700000" y="280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위치 찾기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고칠 곳을 점수로 찾아내는 방법</a:t>
            </a:r>
          </a:p>
        </p:txBody>
      </p:sp>
      <p:sp>
        <p:nvSpPr>
          <p:cNvPr id="9" name="s9"/>
          <p:cNvSpPr/>
          <p:nvPr/>
        </p:nvSpPr>
        <p:spPr>
          <a:xfrm>
            <a:off x="6196000" y="280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매뉴얼 첨부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감지 → 정답지 첨부 과정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395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검수 장치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거부 규칙 6종 · 컴파일러 검사</a:t>
            </a:r>
          </a:p>
        </p:txBody>
      </p:sp>
      <p:sp>
        <p:nvSpPr>
          <p:cNvPr id="11" name="s11"/>
          <p:cNvSpPr/>
          <p:nvPr/>
        </p:nvSpPr>
        <p:spPr>
          <a:xfrm>
            <a:off x="6196000" y="395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객관식 선택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헷갈릴 때만 AI에게 번호 질문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510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매뉴얼 카드의 구조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카드 한 장이 지시·검증을 겸함</a:t>
            </a:r>
          </a:p>
        </p:txBody>
      </p:sp>
      <p:sp>
        <p:nvSpPr>
          <p:cNvPr id="13" name="s13"/>
          <p:cNvSpPr/>
          <p:nvPr/>
        </p:nvSpPr>
        <p:spPr>
          <a:xfrm>
            <a:off x="6196000" y="510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오프라인 응답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AI 없이 동작하는 경로</a:t>
            </a:r>
          </a:p>
        </p:txBody>
      </p:sp>
      <p:sp>
        <p:nvSpPr>
          <p:cNvPr id="14" name="s14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15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F7C3C7E-DF53-4232-B212-4E02CEAB9C4E}"/>
              </a:ext>
            </a:extLst>
          </p:cNvPr>
          <p:cNvSpPr/>
          <p:nvPr/>
        </p:nvSpPr>
        <p:spPr>
          <a:xfrm>
            <a:off x="889000" y="18986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00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5763EB3-0FCF-4064-801B-11E7096DEE57}"/>
              </a:ext>
            </a:extLst>
          </p:cNvPr>
          <p:cNvSpPr/>
          <p:nvPr/>
        </p:nvSpPr>
        <p:spPr>
          <a:xfrm>
            <a:off x="6388100" y="18986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01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C6F1803-3D82-4E45-A276-9625DD55BD20}"/>
              </a:ext>
            </a:extLst>
          </p:cNvPr>
          <p:cNvSpPr/>
          <p:nvPr/>
        </p:nvSpPr>
        <p:spPr>
          <a:xfrm>
            <a:off x="889000" y="30416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02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84AE204-DBBA-47EC-B681-A5DCE738A0B4}"/>
              </a:ext>
            </a:extLst>
          </p:cNvPr>
          <p:cNvSpPr/>
          <p:nvPr/>
        </p:nvSpPr>
        <p:spPr>
          <a:xfrm>
            <a:off x="6388100" y="30416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03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49B4709-AB0D-464A-ACE7-874C568DB162}"/>
              </a:ext>
            </a:extLst>
          </p:cNvPr>
          <p:cNvSpPr/>
          <p:nvPr/>
        </p:nvSpPr>
        <p:spPr>
          <a:xfrm>
            <a:off x="889000" y="41973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04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EC2B012-4725-4E54-8972-FB6853361D5A}"/>
              </a:ext>
            </a:extLst>
          </p:cNvPr>
          <p:cNvSpPr/>
          <p:nvPr/>
        </p:nvSpPr>
        <p:spPr>
          <a:xfrm>
            <a:off x="6388100" y="41973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05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EA4255C-167B-43A0-A0A7-D5A4F64D1C06}"/>
              </a:ext>
            </a:extLst>
          </p:cNvPr>
          <p:cNvSpPr/>
          <p:nvPr/>
        </p:nvSpPr>
        <p:spPr>
          <a:xfrm>
            <a:off x="889000" y="53530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06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59013AC-31DD-4040-8076-5B7B1B5E298B}"/>
              </a:ext>
            </a:extLst>
          </p:cNvPr>
          <p:cNvSpPr/>
          <p:nvPr/>
        </p:nvSpPr>
        <p:spPr>
          <a:xfrm>
            <a:off x="6388100" y="53530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07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280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5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6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7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8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특허가 될 수 있을까 — 아는 것과 모르는 것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스스로 유리하다고 보는 점과, 변리사님 판단이 필요한 점을 나누어 보았습니다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5296000" cy="39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t"/>
          <a:lstStyle/>
          <a:p>
            <a:pPr algn="l">
              <a:spcBef>
                <a:spcPts val="300"/>
              </a:spcBef>
              <a:buNone/>
            </a:pPr>
            <a:r>
              <a:rPr lang="ko-KR" sz="1550" b="1" dirty="0">
                <a:solidFill>
                  <a:srgbClr val="1F3864"/>
                </a:solidFill>
                <a:latin typeface="Malgun Gothic"/>
                <a:ea typeface="Malgun Gothic"/>
              </a:rPr>
              <a:t>유리해 보이는 점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말뿐인 아이디어가 아닙니다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고치는 위치 결정 → 매뉴얼 첨부 → 검사, 구체적인 처리 단계로 되어 있습니다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실제로 돌아가는 제품입니다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산업상 이용 가능성은 실물로 증명됩니다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근거 자료가 준비되어 있습니다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전 기능 구현 · 자동 테스트 · 도식 — 실시예로 바로 사용 가능합니다</a:t>
            </a:r>
          </a:p>
        </p:txBody>
      </p:sp>
      <p:sp>
        <p:nvSpPr>
          <p:cNvPr id="7" name="s7"/>
          <p:cNvSpPr/>
          <p:nvPr/>
        </p:nvSpPr>
        <p:spPr>
          <a:xfrm>
            <a:off x="6196000" y="1650000"/>
            <a:ext cx="5296000" cy="39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t"/>
          <a:lstStyle/>
          <a:p>
            <a:pPr algn="l">
              <a:spcBef>
                <a:spcPts val="300"/>
              </a:spcBef>
              <a:buNone/>
            </a:pPr>
            <a:r>
              <a:rPr lang="ko-KR" sz="1550" b="1" dirty="0">
                <a:solidFill>
                  <a:srgbClr val="C55A11"/>
                </a:solidFill>
                <a:latin typeface="Malgun Gothic"/>
                <a:ea typeface="Malgun Gothic"/>
              </a:rPr>
              <a:t>판단이 필요한 점  (오늘의 핵심 질문)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신규성 — 세상에 없던 것인가?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정식 선행기술조사를 거쳐야만 알 수 있습니다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진보성 — 전문가가 쉽게 못 만드는 수준인가?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등록을 가르는 진짜 관문이라고 알고 있습니다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그래서 오늘 상담을 요청드렸습니다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이 판단은 변리사님만 하실 수 있습니다</a:t>
            </a:r>
          </a:p>
        </p:txBody>
      </p:sp>
      <p:sp>
        <p:nvSpPr>
          <p:cNvPr id="8" name="s8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24</a:t>
            </a:r>
          </a:p>
        </p:txBody>
      </p:sp>
      <p:pic>
        <p:nvPicPr>
          <p:cNvPr id="9" name="Graphic 9" descr="advantages 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46400" y="4368800"/>
            <a:ext cx="787400" cy="787400"/>
          </a:xfrm>
          <a:prstGeom prst="rect">
            <a:avLst/>
          </a:prstGeom>
        </p:spPr>
      </p:pic>
      <p:pic>
        <p:nvPicPr>
          <p:cNvPr id="10" name="Graphic 10" descr="quest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5500" y="4368800"/>
            <a:ext cx="7874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82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16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출원 방향은 이렇게 생각하고 있습니다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중심 하나에, 보조 장치들을 겹겹이 붙이는 구조입니다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55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중심 청구항  =  Ⓐ + Ⓑ</a:t>
            </a:r>
          </a:p>
          <a:p>
            <a:pPr algn="ctr">
              <a:spcBef>
                <a:spcPts val="400"/>
              </a:spcBef>
              <a:buNone/>
            </a:pP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"프로그램이 고칠 곳을 정하고(Ⓐ), 정답 매뉴얼을 자동으로 쥐여주어(Ⓑ), 작은 AI로도 안전한 코드 편집을 보장하는 방법"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450000"/>
            <a:ext cx="3464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31800" rIns="108000" bIns="46800" anchor="t"/>
          <a:lstStyle/>
          <a:p>
            <a:pPr algn="ctr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보조 ①  Ⓒ 객관식 선택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AI의 자유 서술을 배제</a:t>
            </a:r>
          </a:p>
        </p:txBody>
      </p:sp>
      <p:sp>
        <p:nvSpPr>
          <p:cNvPr id="8" name="s8"/>
          <p:cNvSpPr/>
          <p:nvPr/>
        </p:nvSpPr>
        <p:spPr>
          <a:xfrm>
            <a:off x="4364000" y="3450000"/>
            <a:ext cx="3464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31800" rIns="108000" bIns="46800" anchor="t"/>
          <a:lstStyle/>
          <a:p>
            <a:pPr algn="ctr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보조 ②  Ⓓ 컴파일러 검사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불합격품 반영 차단</a:t>
            </a:r>
          </a:p>
        </p:txBody>
      </p:sp>
      <p:sp>
        <p:nvSpPr>
          <p:cNvPr id="9" name="s9"/>
          <p:cNvSpPr/>
          <p:nvPr/>
        </p:nvSpPr>
        <p:spPr>
          <a:xfrm>
            <a:off x="8028000" y="3450000"/>
            <a:ext cx="3464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31800" rIns="108000" bIns="46800" anchor="t"/>
          <a:lstStyle/>
          <a:p>
            <a:pPr algn="ctr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보조 ③  Ⓔ 오프라인 동작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AI 없이도 응답 · 반출 0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5000000"/>
            <a:ext cx="10792000" cy="9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명세서에서 일관되게 강조할 것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"큰 AI 없이 · 폐쇄망에서 · 작은 AI로" — 이 조건의 조합이 기존 도구들과 갈라지는 지점입니다</a:t>
            </a:r>
          </a:p>
        </p:txBody>
      </p:sp>
      <p:sp>
        <p:nvSpPr>
          <p:cNvPr id="11" name="s11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25</a:t>
            </a:r>
          </a:p>
        </p:txBody>
      </p:sp>
      <p:pic>
        <p:nvPicPr>
          <p:cNvPr id="12" name="Graphic 12" descr="multiple choi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73300" y="3581400"/>
            <a:ext cx="304800" cy="304800"/>
          </a:xfrm>
          <a:prstGeom prst="rect">
            <a:avLst/>
          </a:prstGeom>
        </p:spPr>
      </p:pic>
      <p:pic>
        <p:nvPicPr>
          <p:cNvPr id="13" name="Graphic 13" descr="compiler 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8200" y="3581400"/>
            <a:ext cx="304800" cy="304800"/>
          </a:xfrm>
          <a:prstGeom prst="rect">
            <a:avLst/>
          </a:prstGeom>
        </p:spPr>
      </p:pic>
      <p:pic>
        <p:nvPicPr>
          <p:cNvPr id="14" name="Graphic 14" descr="offline saf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5800" y="35814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01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17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걱정되는 점도 미리 말씀드립니다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감추지 않고 먼저 꺼내 놓고, 대응 방법을 여쭙겠습니다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부품들은 이미 알려진 기술입니다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AI 코드 수정 · 문서 검색 각각은 공지 기술 — "조합의 구체적 방식"으로 새로움을 인정받아야 합니다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20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공개 이력을 점검해야 합니다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코드 저장소 · 발표 · 배포 이력이 신규성에 영향을 줄 수 있어, 출원 전 전수 점검이 필요합니다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7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누구 이름으로 낼지 정해야 합니다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개발자 1인의 발명 — 개인 출원과 회사(직무발명) 출원 중 어느 쪽이 맞는지 조언이 필요합니다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26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CE5B424-9BD4-4D2F-884D-71E8E694810F}"/>
              </a:ext>
            </a:extLst>
          </p:cNvPr>
          <p:cNvSpPr/>
          <p:nvPr/>
        </p:nvSpPr>
        <p:spPr>
          <a:xfrm>
            <a:off x="952500" y="2019300"/>
            <a:ext cx="660400" cy="660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1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F8DD6E8-F8FC-4F56-9E15-556DF1F08F3A}"/>
              </a:ext>
            </a:extLst>
          </p:cNvPr>
          <p:cNvSpPr/>
          <p:nvPr/>
        </p:nvSpPr>
        <p:spPr>
          <a:xfrm>
            <a:off x="952500" y="3568700"/>
            <a:ext cx="660400" cy="660400"/>
          </a:xfrm>
          <a:prstGeom prst="roundRect">
            <a:avLst/>
          </a:prstGeom>
          <a:solidFill>
            <a:srgbClr val="C55A11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2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00E2C80-3D31-4C6C-AFD7-49895823836B}"/>
              </a:ext>
            </a:extLst>
          </p:cNvPr>
          <p:cNvSpPr/>
          <p:nvPr/>
        </p:nvSpPr>
        <p:spPr>
          <a:xfrm>
            <a:off x="952500" y="5118100"/>
            <a:ext cx="660400" cy="660400"/>
          </a:xfrm>
          <a:prstGeom prst="roundRect">
            <a:avLst/>
          </a:prstGeom>
          <a:solidFill>
            <a:srgbClr val="2E7D32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3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pic>
        <p:nvPicPr>
          <p:cNvPr id="13" name="Graphic 13" descr="known te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9100" y="2057400"/>
            <a:ext cx="584200" cy="584200"/>
          </a:xfrm>
          <a:prstGeom prst="rect">
            <a:avLst/>
          </a:prstGeom>
        </p:spPr>
      </p:pic>
      <p:pic>
        <p:nvPicPr>
          <p:cNvPr id="14" name="Graphic 14" descr="check histo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100" y="3606800"/>
            <a:ext cx="584200" cy="584200"/>
          </a:xfrm>
          <a:prstGeom prst="rect">
            <a:avLst/>
          </a:prstGeom>
        </p:spPr>
      </p:pic>
      <p:pic>
        <p:nvPicPr>
          <p:cNvPr id="15" name="Graphic 15" descr="attribution peop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9100" y="5156200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11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여쭤보고 싶은 것, 다섯 가지입니다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오늘 이 다섯 가지에 답을 얻으면 성공이라고 생각하고 왔습니다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52500" tIns="76200" rIns="762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선행기술조사 — 범위 · 기간 · 비용은 어떻게 되나요?</a:t>
            </a:r>
          </a:p>
        </p:txBody>
      </p:sp>
      <p:sp>
        <p:nvSpPr>
          <p:cNvPr id="7" name="s7"/>
          <p:cNvSpPr/>
          <p:nvPr/>
        </p:nvSpPr>
        <p:spPr>
          <a:xfrm>
            <a:off x="700000" y="259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52500" tIns="76200" rIns="762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공개 이력이 있었다면 — 구제 방법(공지예외 12개월)을 적용할 수 있나요?</a:t>
            </a:r>
          </a:p>
        </p:txBody>
      </p:sp>
      <p:sp>
        <p:nvSpPr>
          <p:cNvPr id="8" name="s8"/>
          <p:cNvSpPr/>
          <p:nvPr/>
        </p:nvSpPr>
        <p:spPr>
          <a:xfrm>
            <a:off x="700000" y="353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52500" tIns="76200" rIns="762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청구항 — 처리 단계를 어디까지 구체적으로 써야 하나요?</a:t>
            </a:r>
          </a:p>
        </p:txBody>
      </p:sp>
      <p:sp>
        <p:nvSpPr>
          <p:cNvPr id="9" name="s9"/>
          <p:cNvSpPr/>
          <p:nvPr/>
        </p:nvSpPr>
        <p:spPr>
          <a:xfrm>
            <a:off x="700000" y="447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52500" tIns="76200" rIns="762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해외 출원(PCT) — 함께 준비할 필요가 있을까요?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541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52500" tIns="76200" rIns="762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일정 — 출원까지의 절차와 저희가 준비할 서류는 무엇인가요?</a:t>
            </a:r>
          </a:p>
        </p:txBody>
      </p:sp>
      <p:sp>
        <p:nvSpPr>
          <p:cNvPr id="11" name="s11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27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46ECC57-7B69-4E7A-B471-AB18A3B30EAD}"/>
              </a:ext>
            </a:extLst>
          </p:cNvPr>
          <p:cNvSpPr/>
          <p:nvPr/>
        </p:nvSpPr>
        <p:spPr>
          <a:xfrm>
            <a:off x="863600" y="1809750"/>
            <a:ext cx="584200" cy="5080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</a:rPr>
              <a:t>Q1</a:t>
            </a:r>
            <a:endParaRPr lang="ko-KR" altLang="en-US" sz="1400" b="1">
              <a:solidFill>
                <a:srgbClr val="FFFFFF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7A53FE3-CFB0-4D31-9E9D-49AD60B10C61}"/>
              </a:ext>
            </a:extLst>
          </p:cNvPr>
          <p:cNvSpPr/>
          <p:nvPr/>
        </p:nvSpPr>
        <p:spPr>
          <a:xfrm>
            <a:off x="863600" y="2749550"/>
            <a:ext cx="584200" cy="5080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</a:rPr>
              <a:t>Q2</a:t>
            </a:r>
            <a:endParaRPr lang="ko-KR" altLang="en-US" sz="1400" b="1">
              <a:solidFill>
                <a:srgbClr val="FFFFFF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D87950C-ECE8-4CE9-8B7C-9A6520A2F5FB}"/>
              </a:ext>
            </a:extLst>
          </p:cNvPr>
          <p:cNvSpPr/>
          <p:nvPr/>
        </p:nvSpPr>
        <p:spPr>
          <a:xfrm>
            <a:off x="863600" y="3689350"/>
            <a:ext cx="584200" cy="5080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</a:rPr>
              <a:t>Q3</a:t>
            </a:r>
            <a:endParaRPr lang="ko-KR" altLang="en-US" sz="1400" b="1">
              <a:solidFill>
                <a:srgbClr val="FFFFFF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6235BAE-F218-4508-BCC2-9EF6B19FE9F5}"/>
              </a:ext>
            </a:extLst>
          </p:cNvPr>
          <p:cNvSpPr/>
          <p:nvPr/>
        </p:nvSpPr>
        <p:spPr>
          <a:xfrm>
            <a:off x="863600" y="4629150"/>
            <a:ext cx="584200" cy="5080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</a:rPr>
              <a:t>Q4</a:t>
            </a:r>
            <a:endParaRPr lang="ko-KR" altLang="en-US" sz="1400" b="1">
              <a:solidFill>
                <a:srgbClr val="FFFFFF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FED76F9-32FE-44FD-97A2-0CEB94041B8B}"/>
              </a:ext>
            </a:extLst>
          </p:cNvPr>
          <p:cNvSpPr/>
          <p:nvPr/>
        </p:nvSpPr>
        <p:spPr>
          <a:xfrm>
            <a:off x="863600" y="5568950"/>
            <a:ext cx="584200" cy="5080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</a:rPr>
              <a:t>Q5</a:t>
            </a:r>
            <a:endParaRPr lang="ko-KR" altLang="en-U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554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19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참고 — 기본 정보 정리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상담에 필요한 사실관계입니다  (✔ 확정  ·  ⚠ 오늘 함께 확인 필요)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800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발명의 명칭 (가칭)    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결정론적 구조 분해와 계약 주입을 이용한 로컬 소형 LLM 기반 코드 편집 방법 및 시스템</a:t>
            </a:r>
          </a:p>
        </p:txBody>
      </p:sp>
      <p:sp>
        <p:nvSpPr>
          <p:cNvPr id="7" name="s7"/>
          <p:cNvSpPr/>
          <p:nvPr/>
        </p:nvSpPr>
        <p:spPr>
          <a:xfrm>
            <a:off x="700000" y="259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C55A11"/>
            </a:solidFill>
          </a:ln>
        </p:spPr>
        <p:txBody>
          <a:bodyPr wrap="square" lIns="800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발명자 / 출원인    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개발자 1인 — 직무발명 해당 여부와 개인/법인 출원 방향 상담 필요</a:t>
            </a:r>
          </a:p>
        </p:txBody>
      </p:sp>
      <p:sp>
        <p:nvSpPr>
          <p:cNvPr id="8" name="s8"/>
          <p:cNvSpPr/>
          <p:nvPr/>
        </p:nvSpPr>
        <p:spPr>
          <a:xfrm>
            <a:off x="700000" y="353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800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실시 상태    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구현 완료 — 실제 동작하는 VSCode 확장 · 자동 테스트 220건 이상 · 사내 AI 검증 이력</a:t>
            </a:r>
          </a:p>
        </p:txBody>
      </p:sp>
      <p:sp>
        <p:nvSpPr>
          <p:cNvPr id="9" name="s9"/>
          <p:cNvSpPr/>
          <p:nvPr/>
        </p:nvSpPr>
        <p:spPr>
          <a:xfrm>
            <a:off x="700000" y="447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C55A11"/>
            </a:solidFill>
          </a:ln>
        </p:spPr>
        <p:txBody>
          <a:bodyPr wrap="square" lIns="800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공개 이력    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출원 전 전수 점검 필요 — 저장소 공개 여부 · 사내외 발표 · 배포 이력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541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800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희망 범위 · 일정    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국내 출원 우선, 해외는 상담 결과에 따라 — 일정 제약 없음</a:t>
            </a:r>
          </a:p>
        </p:txBody>
      </p:sp>
      <p:sp>
        <p:nvSpPr>
          <p:cNvPr id="11" name="s11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28</a:t>
            </a:r>
          </a:p>
        </p:txBody>
      </p:sp>
      <p:pic>
        <p:nvPicPr>
          <p:cNvPr id="12" name="Graphic 12" descr="confirm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1866900"/>
            <a:ext cx="381000" cy="381000"/>
          </a:xfrm>
          <a:prstGeom prst="rect">
            <a:avLst/>
          </a:prstGeom>
        </p:spPr>
      </p:pic>
      <p:pic>
        <p:nvPicPr>
          <p:cNvPr id="13" name="Graphic 13" descr="needs discus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2806700"/>
            <a:ext cx="381000" cy="381000"/>
          </a:xfrm>
          <a:prstGeom prst="rect">
            <a:avLst/>
          </a:prstGeom>
        </p:spPr>
      </p:pic>
      <p:pic>
        <p:nvPicPr>
          <p:cNvPr id="14" name="Graphic 14" descr="confirm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3746500"/>
            <a:ext cx="381000" cy="381000"/>
          </a:xfrm>
          <a:prstGeom prst="rect">
            <a:avLst/>
          </a:prstGeom>
        </p:spPr>
      </p:pic>
      <p:pic>
        <p:nvPicPr>
          <p:cNvPr id="15" name="Graphic 15" descr="needs discus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4686300"/>
            <a:ext cx="381000" cy="381000"/>
          </a:xfrm>
          <a:prstGeom prst="rect">
            <a:avLst/>
          </a:prstGeom>
        </p:spPr>
      </p:pic>
      <p:pic>
        <p:nvPicPr>
          <p:cNvPr id="16" name="Graphic 16" descr="confirm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56261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0454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20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오늘 이후의 순서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오늘 방향이 확인되면, 바로 다음 걸음을 옮기고 싶습니다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2100000"/>
            <a:ext cx="2380000" cy="15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82600" rIns="108000" bIns="46800" anchor="t"/>
          <a:lstStyle/>
          <a:p>
            <a:pPr algn="ctr">
              <a:buNone/>
            </a:pPr>
            <a:r>
              <a:rPr lang="ko-KR" sz="1800" b="1" dirty="0">
                <a:solidFill>
                  <a:srgbClr val="F4B183"/>
                </a:solidFill>
                <a:latin typeface="Malgun Gothic"/>
                <a:ea typeface="Malgun Gothic"/>
              </a:rPr>
              <a:t>1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350" b="1" dirty="0">
                <a:solidFill>
                  <a:srgbClr val="FFFFFF"/>
                </a:solidFill>
                <a:latin typeface="Malgun Gothic"/>
                <a:ea typeface="Malgun Gothic"/>
              </a:rPr>
              <a:t>방향 확인 (오늘)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50" dirty="0">
                <a:solidFill>
                  <a:srgbClr val="D9E2F3"/>
                </a:solidFill>
                <a:latin typeface="Malgun Gothic"/>
                <a:ea typeface="Malgun Gothic"/>
              </a:rPr>
              <a:t>중심 청구항 Ⓐ+Ⓑ의 타당성</a:t>
            </a:r>
          </a:p>
        </p:txBody>
      </p:sp>
      <p:sp>
        <p:nvSpPr>
          <p:cNvPr id="7" name="s7"/>
          <p:cNvSpPr/>
          <p:nvPr/>
        </p:nvSpPr>
        <p:spPr>
          <a:xfrm>
            <a:off x="3080000" y="2100000"/>
            <a:ext cx="424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8" name="s8"/>
          <p:cNvSpPr/>
          <p:nvPr/>
        </p:nvSpPr>
        <p:spPr>
          <a:xfrm>
            <a:off x="3504000" y="2100000"/>
            <a:ext cx="2380000" cy="15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82600" rIns="108000" bIns="46800" anchor="t"/>
          <a:lstStyle/>
          <a:p>
            <a:pPr algn="ctr">
              <a:buNone/>
            </a:pPr>
            <a:r>
              <a:rPr lang="ko-KR" sz="1800" b="1" dirty="0">
                <a:solidFill>
                  <a:srgbClr val="C55A11"/>
                </a:solidFill>
                <a:latin typeface="Malgun Gothic"/>
                <a:ea typeface="Malgun Gothic"/>
              </a:rPr>
              <a:t>2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기술 요지서 작성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소스 코드 · 도식을 근거로</a:t>
            </a:r>
          </a:p>
        </p:txBody>
      </p:sp>
      <p:sp>
        <p:nvSpPr>
          <p:cNvPr id="9" name="s9"/>
          <p:cNvSpPr/>
          <p:nvPr/>
        </p:nvSpPr>
        <p:spPr>
          <a:xfrm>
            <a:off x="5884000" y="2100000"/>
            <a:ext cx="424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0" name="s10"/>
          <p:cNvSpPr/>
          <p:nvPr/>
        </p:nvSpPr>
        <p:spPr>
          <a:xfrm>
            <a:off x="6308000" y="2100000"/>
            <a:ext cx="2380000" cy="15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82600" rIns="108000" bIns="46800" anchor="t"/>
          <a:lstStyle/>
          <a:p>
            <a:pPr algn="ctr">
              <a:buNone/>
            </a:pPr>
            <a:r>
              <a:rPr lang="ko-KR" sz="1800" b="1" dirty="0">
                <a:solidFill>
                  <a:srgbClr val="C55A11"/>
                </a:solidFill>
                <a:latin typeface="Malgun Gothic"/>
                <a:ea typeface="Malgun Gothic"/>
              </a:rPr>
              <a:t>3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선행기술조사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청구 범위 설계와 병행</a:t>
            </a:r>
          </a:p>
        </p:txBody>
      </p:sp>
      <p:sp>
        <p:nvSpPr>
          <p:cNvPr id="11" name="s11"/>
          <p:cNvSpPr/>
          <p:nvPr/>
        </p:nvSpPr>
        <p:spPr>
          <a:xfrm>
            <a:off x="8688000" y="2100000"/>
            <a:ext cx="424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s12"/>
          <p:cNvSpPr/>
          <p:nvPr/>
        </p:nvSpPr>
        <p:spPr>
          <a:xfrm>
            <a:off x="9112000" y="2100000"/>
            <a:ext cx="2380000" cy="15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82600" rIns="108000" bIns="46800" anchor="t"/>
          <a:lstStyle/>
          <a:p>
            <a:pPr algn="ctr">
              <a:buNone/>
            </a:pPr>
            <a:r>
              <a:rPr lang="ko-KR" sz="1800" b="1" dirty="0">
                <a:solidFill>
                  <a:srgbClr val="C55A11"/>
                </a:solidFill>
                <a:latin typeface="Malgun Gothic"/>
                <a:ea typeface="Malgun Gothic"/>
              </a:rPr>
              <a:t>4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출원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필요 시 공지예외 주장 병행</a:t>
            </a:r>
          </a:p>
        </p:txBody>
      </p:sp>
      <p:sp>
        <p:nvSpPr>
          <p:cNvPr id="13" name="s13"/>
          <p:cNvSpPr/>
          <p:nvPr/>
        </p:nvSpPr>
        <p:spPr>
          <a:xfrm>
            <a:off x="700000" y="4000000"/>
            <a:ext cx="10792000" cy="8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자신 있는 점   </a:t>
            </a:r>
            <a:r>
              <a:rPr lang="ko-KR" sz="1400" dirty="0">
                <a:solidFill>
                  <a:srgbClr val="FFFFFF"/>
                </a:solidFill>
                <a:latin typeface="Malgun Gothic"/>
                <a:ea typeface="Malgun Gothic"/>
              </a:rPr>
              <a:t>오늘 말씀드린 모든 내용은 실제 코드와 도식으로 즉시 뒷받침할 수 있습니다</a:t>
            </a:r>
          </a:p>
        </p:txBody>
      </p:sp>
      <p:sp>
        <p:nvSpPr>
          <p:cNvPr id="14" name="s14"/>
          <p:cNvSpPr/>
          <p:nvPr/>
        </p:nvSpPr>
        <p:spPr>
          <a:xfrm>
            <a:off x="1000000" y="5100000"/>
            <a:ext cx="10192000" cy="8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2800" b="1" dirty="0">
                <a:solidFill>
                  <a:srgbClr val="1F3864"/>
                </a:solidFill>
                <a:latin typeface="Malgun Gothic"/>
                <a:ea typeface="Malgun Gothic"/>
              </a:rPr>
              <a:t>감사합니다</a:t>
            </a:r>
          </a:p>
        </p:txBody>
      </p:sp>
      <p:sp>
        <p:nvSpPr>
          <p:cNvPr id="15" name="s15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29</a:t>
            </a:r>
          </a:p>
        </p:txBody>
      </p:sp>
      <p:pic>
        <p:nvPicPr>
          <p:cNvPr id="16" name="Graphic 16" descr="confirm direc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4500" y="2273300"/>
            <a:ext cx="355600" cy="355600"/>
          </a:xfrm>
          <a:prstGeom prst="rect">
            <a:avLst/>
          </a:prstGeom>
        </p:spPr>
      </p:pic>
      <p:pic>
        <p:nvPicPr>
          <p:cNvPr id="17" name="Graphic 17" descr="write brief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1200" y="2273300"/>
            <a:ext cx="355600" cy="355600"/>
          </a:xfrm>
          <a:prstGeom prst="rect">
            <a:avLst/>
          </a:prstGeom>
        </p:spPr>
      </p:pic>
      <p:pic>
        <p:nvPicPr>
          <p:cNvPr id="18" name="Graphic 18" descr="prior art sear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7900" y="2273300"/>
            <a:ext cx="355600" cy="355600"/>
          </a:xfrm>
          <a:prstGeom prst="rect">
            <a:avLst/>
          </a:prstGeom>
        </p:spPr>
      </p:pic>
      <p:pic>
        <p:nvPicPr>
          <p:cNvPr id="19" name="Graphic 19" descr="file applic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1900" y="22733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113551"/>
      </p:ext>
    </p:extLst>
  </p:cSld>
  <p:clrMapOvr>
    <a:masterClrMapping/>
  </p:clrMapOvr>
</p:sld>
</file>

<file path=ppt/theme/theme1.xml><?xml version="1.0" encoding="utf-8"?>
<a:theme xmlns:a="http://schemas.openxmlformats.org/drawingml/2006/main" name="Axiom">
  <a:themeElements>
    <a:clrScheme name="Axiom">
      <a:dk1>
        <a:sysClr val="windowText" lastClr="000000"/>
      </a:dk1>
      <a:lt1>
        <a:sysClr val="window" lastClr="FFFFFF"/>
      </a:lt1>
      <a:dk2>
        <a:srgbClr val="1F3864"/>
      </a:dk2>
      <a:lt2>
        <a:srgbClr val="F2F6FC"/>
      </a:lt2>
      <a:accent1>
        <a:srgbClr val="2E5395"/>
      </a:accent1>
      <a:accent2>
        <a:srgbClr val="C55A11"/>
      </a:accent2>
      <a:accent3>
        <a:srgbClr val="8FAADC"/>
      </a:accent3>
      <a:accent4>
        <a:srgbClr val="2E7D32"/>
      </a:accent4>
      <a:accent5>
        <a:srgbClr val="B02B2B"/>
      </a:accent5>
      <a:accent6>
        <a:srgbClr val="595959"/>
      </a:accent6>
      <a:hlink>
        <a:srgbClr val="0563C1"/>
      </a:hlink>
      <a:folHlink>
        <a:srgbClr val="954F72"/>
      </a:folHlink>
    </a:clrScheme>
    <a:fontScheme name="Axiom">
      <a:majorFont>
        <a:latin typeface="Malgun Gothic"/>
        <a:ea typeface="Malgun Gothic"/>
        <a:cs typeface=""/>
      </a:majorFont>
      <a:minorFont>
        <a:latin typeface="Malgun Gothic"/>
        <a:ea typeface="Malgun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tint val="90000"/>
          </a:schemeClr>
        </a:soli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21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6E112B9-941D-47AB-AD2C-91B8C9B99FD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36a8edc-de8b-440b-9d0d-ec3b72fc639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2114</Words>
  <Application>Microsoft Office PowerPoint</Application>
  <PresentationFormat>와이드스크린</PresentationFormat>
  <Paragraphs>313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2" baseType="lpstr">
      <vt:lpstr>Malgun Gothic</vt:lpstr>
      <vt:lpstr>Arial</vt:lpstr>
      <vt:lpstr>Axiom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닉컴퍼니_02</cp:lastModifiedBy>
  <cp:revision>8</cp:revision>
  <dcterms:modified xsi:type="dcterms:W3CDTF">2026-07-10T06:10:52Z</dcterms:modified>
</cp:coreProperties>
</file>